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96" r:id="rId3"/>
  </p:sldMasterIdLst>
  <p:notesMasterIdLst>
    <p:notesMasterId r:id="rId22"/>
  </p:notesMasterIdLst>
  <p:sldIdLst>
    <p:sldId id="274" r:id="rId4"/>
    <p:sldId id="275" r:id="rId5"/>
    <p:sldId id="276" r:id="rId6"/>
    <p:sldId id="277" r:id="rId7"/>
    <p:sldId id="260" r:id="rId8"/>
    <p:sldId id="261" r:id="rId9"/>
    <p:sldId id="262" r:id="rId10"/>
    <p:sldId id="263" r:id="rId11"/>
    <p:sldId id="264" r:id="rId12"/>
    <p:sldId id="278" r:id="rId13"/>
    <p:sldId id="266" r:id="rId14"/>
    <p:sldId id="267" r:id="rId15"/>
    <p:sldId id="268" r:id="rId16"/>
    <p:sldId id="269" r:id="rId17"/>
    <p:sldId id="270" r:id="rId18"/>
    <p:sldId id="272" r:id="rId19"/>
    <p:sldId id="279" r:id="rId20"/>
    <p:sldId id="280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7999999999998E-2"/>
          <c:y val="0.12693499999999999"/>
          <c:w val="0.92608599999999996"/>
          <c:h val="0.667471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FF0053"/>
            </a:solidFill>
            <a:ln w="6350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FFFFFF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top 2-5</c:v>
                </c:pt>
                <c:pt idx="1">
                  <c:v>top 6-10</c:v>
                </c:pt>
                <c:pt idx="2">
                  <c:v>not in top 10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689</c:v>
                </c:pt>
                <c:pt idx="1">
                  <c:v>176</c:v>
                </c:pt>
                <c:pt idx="2">
                  <c:v>242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226-4A7E-9C77-1F7DE2B1A7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200" b="0" i="0" u="none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200" b="0" i="0" u="none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499999999999"/>
          <c:w val="0.86424199999999995"/>
          <c:h val="0.667471000000000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Batch‑1, ms</c:v>
                </c:pt>
              </c:strCache>
            </c:strRef>
          </c:tx>
          <c:spPr>
            <a:solidFill>
              <a:srgbClr val="FFD6E3"/>
            </a:solidFill>
            <a:ln w="63500">
              <a:solidFill>
                <a:schemeClr val="accent2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</c:spPr>
            <c:extLst>
              <c:ext xmlns:c16="http://schemas.microsoft.com/office/drawing/2014/chart" uri="{C3380CC4-5D6E-409C-BE32-E72D297353CC}">
                <c16:uniqueId val="{00000001-9A69-4DC5-88D9-87FFB3A8F6F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</c:spPr>
            <c:extLst>
              <c:ext xmlns:c16="http://schemas.microsoft.com/office/drawing/2014/chart" uri="{C3380CC4-5D6E-409C-BE32-E72D297353CC}">
                <c16:uniqueId val="{00000003-9A69-4DC5-88D9-87FFB3A8F6F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</c:spPr>
            <c:extLst>
              <c:ext xmlns:c16="http://schemas.microsoft.com/office/drawing/2014/chart" uri="{C3380CC4-5D6E-409C-BE32-E72D297353CC}">
                <c16:uniqueId val="{00000005-9A69-4DC5-88D9-87FFB3A8F6F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</c:spPr>
            <c:extLst>
              <c:ext xmlns:c16="http://schemas.microsoft.com/office/drawing/2014/chart" uri="{C3380CC4-5D6E-409C-BE32-E72D297353CC}">
                <c16:uniqueId val="{00000007-9A69-4DC5-88D9-87FFB3A8F6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D145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2.5.1/cu121</c:v>
                </c:pt>
                <c:pt idx="1">
                  <c:v>2.11/cu128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50.98</c:v>
                </c:pt>
                <c:pt idx="1">
                  <c:v>41.83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0">
                    <a:solidFill>
                      <a:schemeClr val="accent2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9A69-4DC5-88D9-87FFB3A8F6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200" b="0" i="0" u="none">
                <a:solidFill>
                  <a:schemeClr val="tx1"/>
                </a:solidFill>
                <a:latin typeface="Montserrat"/>
                <a:ea typeface="Montserrat"/>
                <a:cs typeface="Montserrat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200" b="0" i="0" u="none">
                <a:solidFill>
                  <a:schemeClr val="tx1"/>
                </a:solidFill>
                <a:latin typeface="Montserrat"/>
                <a:ea typeface="Montserrat"/>
                <a:cs typeface="Montserrat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9B8682-549C-E1BB-F508-D1525C1FC77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3B14-7AC8-406F-A299-37D374056E4F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[Sources]</a:t>
            </a:r>
          </a:p>
          <a:p>
            <a:pPr>
              <a:buNone/>
            </a:pPr>
            <a:r>
              <a:t>- Финальное решение/docs/error_analysis_montage.jpg</a:t>
            </a:r>
          </a:p>
          <a:p>
            <a:pPr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[Sources]</a:t>
            </a:r>
          </a:p>
          <a:p>
            <a:pPr>
              <a:buNone/>
            </a:pPr>
            <a:r>
              <a:t>- Финальное решение/docs/SOLUTION_ARCHITECTURE.md</a:t>
            </a:r>
          </a:p>
          <a:p>
            <a:pPr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[Sources]</a:t>
            </a:r>
          </a:p>
          <a:p>
            <a:pPr>
              <a:buNone/>
            </a:pPr>
            <a:r>
              <a:t>- Финальное решение/docs/SOLUTION_ARCHITECTURE.md</a:t>
            </a:r>
          </a:p>
          <a:p>
            <a:pPr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[Sources]</a:t>
            </a:r>
          </a:p>
          <a:p>
            <a:pPr>
              <a:buNone/>
            </a:pPr>
            <a:r>
              <a:t>- Финальное решение/docs/SOLUTION_ARCHITECTURE.md</a:t>
            </a:r>
          </a:p>
          <a:p>
            <a:pPr>
              <a:buNone/>
            </a:pPr>
            <a:r>
              <a:t>- https://www.nvidia.com/content/dam/en-zz/Solutions/products/workstations/nvidia-rtx-a5000-datasheet.pdf</a:t>
            </a:r>
          </a:p>
          <a:p>
            <a:pPr>
              <a:buNone/>
            </a:pPr>
            <a:r>
              <a:t>- https://docs.nvidia.com/deploy/cuda-compatibility/minor-version-compatibility.html</a:t>
            </a:r>
          </a:p>
          <a:p>
            <a:pPr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682889" name="Рисунок 10">
            <a:extLst>
              <a:ext uri="{FF2B5EF4-FFF2-40B4-BE49-F238E27FC236}">
                <a16:creationId xmlns:a16="http://schemas.microsoft.com/office/drawing/2014/main" id="{9C3F1249-3E17-4025-BD39-CC028AE8CA4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Иконка задачи</a:t>
            </a:r>
          </a:p>
        </p:txBody>
      </p:sp>
      <p:sp>
        <p:nvSpPr>
          <p:cNvPr id="880295750" name="Заголовок 1">
            <a:extLst>
              <a:ext uri="{FF2B5EF4-FFF2-40B4-BE49-F238E27FC236}">
                <a16:creationId xmlns:a16="http://schemas.microsoft.com/office/drawing/2014/main" id="{1D39C8AF-7E30-4345-9E4C-ADC6812C82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/>
          <a:lstStyle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НАЗВАНИЕ КОМАНДЫ</a:t>
            </a:r>
          </a:p>
        </p:txBody>
      </p:sp>
      <p:sp>
        <p:nvSpPr>
          <p:cNvPr id="401620835" name="Рисунок 41">
            <a:extLst>
              <a:ext uri="{FF2B5EF4-FFF2-40B4-BE49-F238E27FC236}">
                <a16:creationId xmlns:a16="http://schemas.microsoft.com/office/drawing/2014/main" id="{0DAA202C-9924-47D1-AC42-3573889B93C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Логотип/логотипы постановщика задачи</a:t>
            </a:r>
          </a:p>
        </p:txBody>
      </p:sp>
      <p:sp>
        <p:nvSpPr>
          <p:cNvPr id="602869623" name="Текст 4">
            <a:extLst>
              <a:ext uri="{FF2B5EF4-FFF2-40B4-BE49-F238E27FC236}">
                <a16:creationId xmlns:a16="http://schemas.microsoft.com/office/drawing/2014/main" id="{1C75959C-E146-473A-BD6D-46F32BA6F597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buNone/>
            </a:pPr>
            <a:r>
              <a:rPr sz="1600" b="0"/>
              <a:t>Номер и название задачи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076004" name="Рисунок 10">
            <a:extLst>
              <a:ext uri="{FF2B5EF4-FFF2-40B4-BE49-F238E27FC236}">
                <a16:creationId xmlns:a16="http://schemas.microsoft.com/office/drawing/2014/main" id="{55B4C93C-73C2-40A9-AFDC-4668EFECE75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Фото команды</a:t>
            </a:r>
          </a:p>
        </p:txBody>
      </p:sp>
      <p:sp>
        <p:nvSpPr>
          <p:cNvPr id="1666356196" name="Заголовок 1">
            <a:extLst>
              <a:ext uri="{FF2B5EF4-FFF2-40B4-BE49-F238E27FC236}">
                <a16:creationId xmlns:a16="http://schemas.microsoft.com/office/drawing/2014/main" id="{792D0641-755A-4769-B33E-73BF5B7FE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КОМАНДА «НАЗВАНИЕ»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223789" name="Дата 3">
            <a:extLst>
              <a:ext uri="{FF2B5EF4-FFF2-40B4-BE49-F238E27FC236}">
                <a16:creationId xmlns:a16="http://schemas.microsoft.com/office/drawing/2014/main" id="{BF29B79A-228C-463C-BA8B-258B20631E2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67EB9651-F031-4963-AFE9-33BCC0E88757}" type="datetime1">
              <a:t>29.09.2026</a:t>
            </a:fld>
            <a:endParaRPr/>
          </a:p>
        </p:txBody>
      </p:sp>
      <p:sp>
        <p:nvSpPr>
          <p:cNvPr id="1048786552" name="Нижний колонтитул 4">
            <a:extLst>
              <a:ext uri="{FF2B5EF4-FFF2-40B4-BE49-F238E27FC236}">
                <a16:creationId xmlns:a16="http://schemas.microsoft.com/office/drawing/2014/main" id="{DEF439D8-AE3D-4EDB-A7DE-03692A5862B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993809064" name="Номер слайда 5">
            <a:extLst>
              <a:ext uri="{FF2B5EF4-FFF2-40B4-BE49-F238E27FC236}">
                <a16:creationId xmlns:a16="http://schemas.microsoft.com/office/drawing/2014/main" id="{1CCE300F-D192-41FC-811B-98AF5088DE6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927366780" name="Заголовок 1">
            <a:extLst>
              <a:ext uri="{FF2B5EF4-FFF2-40B4-BE49-F238E27FC236}">
                <a16:creationId xmlns:a16="http://schemas.microsoft.com/office/drawing/2014/main" id="{B67C2883-244D-44B1-BFFE-0BE39BBF2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КОМАНДА «НАЗВАНИЕ»</a:t>
            </a:r>
          </a:p>
        </p:txBody>
      </p:sp>
      <p:sp>
        <p:nvSpPr>
          <p:cNvPr id="1795973529" name="Текст 35">
            <a:extLst>
              <a:ext uri="{FF2B5EF4-FFF2-40B4-BE49-F238E27FC236}">
                <a16:creationId xmlns:a16="http://schemas.microsoft.com/office/drawing/2014/main" id="{E0703DE6-5331-4FEA-B347-251C3AE95EC1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1913937985" name="Текст 35">
            <a:extLst>
              <a:ext uri="{FF2B5EF4-FFF2-40B4-BE49-F238E27FC236}">
                <a16:creationId xmlns:a16="http://schemas.microsoft.com/office/drawing/2014/main" id="{05A97462-8A32-414C-84AC-96BC286176A0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11548332" name="Текст 35">
            <a:extLst>
              <a:ext uri="{FF2B5EF4-FFF2-40B4-BE49-F238E27FC236}">
                <a16:creationId xmlns:a16="http://schemas.microsoft.com/office/drawing/2014/main" id="{8A418ABC-2DD4-47F6-8FA8-C0AE98EA0A73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2000063644" name="Текст 35">
            <a:extLst>
              <a:ext uri="{FF2B5EF4-FFF2-40B4-BE49-F238E27FC236}">
                <a16:creationId xmlns:a16="http://schemas.microsoft.com/office/drawing/2014/main" id="{B95DC221-98F1-4180-9D5C-F2505DB6D256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660029963" name="Текст 35">
            <a:extLst>
              <a:ext uri="{FF2B5EF4-FFF2-40B4-BE49-F238E27FC236}">
                <a16:creationId xmlns:a16="http://schemas.microsoft.com/office/drawing/2014/main" id="{C3357363-5143-4B63-9FBB-EC0898C7090E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560272" name="Дата 3">
            <a:extLst>
              <a:ext uri="{FF2B5EF4-FFF2-40B4-BE49-F238E27FC236}">
                <a16:creationId xmlns:a16="http://schemas.microsoft.com/office/drawing/2014/main" id="{3CB65F34-F48D-410D-A5B2-C8483D62D93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1021F813-DBA1-42EC-A748-A9CC16659E6B}" type="datetime1">
              <a:t>29.09.2026</a:t>
            </a:fld>
            <a:endParaRPr/>
          </a:p>
        </p:txBody>
      </p:sp>
      <p:sp>
        <p:nvSpPr>
          <p:cNvPr id="1123256481" name="Нижний колонтитул 4">
            <a:extLst>
              <a:ext uri="{FF2B5EF4-FFF2-40B4-BE49-F238E27FC236}">
                <a16:creationId xmlns:a16="http://schemas.microsoft.com/office/drawing/2014/main" id="{9EB6AD09-56E3-4A75-BBC4-89EA3D0062E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707451837" name="Номер слайда 5">
            <a:extLst>
              <a:ext uri="{FF2B5EF4-FFF2-40B4-BE49-F238E27FC236}">
                <a16:creationId xmlns:a16="http://schemas.microsoft.com/office/drawing/2014/main" id="{D7BB6783-ACBC-401D-97B8-08D53CDE43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9326" name="Текст 2">
            <a:extLst>
              <a:ext uri="{FF2B5EF4-FFF2-40B4-BE49-F238E27FC236}">
                <a16:creationId xmlns:a16="http://schemas.microsoft.com/office/drawing/2014/main" id="{DD5A705B-4C4E-4B7D-9706-284778651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12371166" name="Дата 3">
            <a:extLst>
              <a:ext uri="{FF2B5EF4-FFF2-40B4-BE49-F238E27FC236}">
                <a16:creationId xmlns:a16="http://schemas.microsoft.com/office/drawing/2014/main" id="{D0C76558-8C06-4649-8358-B6361B14CEF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7DE2642A-6018-4CC1-81AB-5FD8D2782D4F}" type="datetime1">
              <a:t>29.09.2026</a:t>
            </a:fld>
            <a:endParaRPr/>
          </a:p>
        </p:txBody>
      </p:sp>
      <p:sp>
        <p:nvSpPr>
          <p:cNvPr id="1858665391" name="Нижний колонтитул 4">
            <a:extLst>
              <a:ext uri="{FF2B5EF4-FFF2-40B4-BE49-F238E27FC236}">
                <a16:creationId xmlns:a16="http://schemas.microsoft.com/office/drawing/2014/main" id="{1E00E481-3AEB-486B-97C6-551426FC79D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410582817" name="Номер слайда 5">
            <a:extLst>
              <a:ext uri="{FF2B5EF4-FFF2-40B4-BE49-F238E27FC236}">
                <a16:creationId xmlns:a16="http://schemas.microsoft.com/office/drawing/2014/main" id="{449467B4-C4EB-4340-BBC0-C90F1CA2046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454463469" name="Заголовок 1">
            <a:extLst>
              <a:ext uri="{FF2B5EF4-FFF2-40B4-BE49-F238E27FC236}">
                <a16:creationId xmlns:a16="http://schemas.microsoft.com/office/drawing/2014/main" id="{EB210CC6-84DC-4B95-90D8-E6E1858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536032" name="Объект 2">
            <a:extLst>
              <a:ext uri="{FF2B5EF4-FFF2-40B4-BE49-F238E27FC236}">
                <a16:creationId xmlns:a16="http://schemas.microsoft.com/office/drawing/2014/main" id="{053FA8FC-4C4F-4B27-B0AC-1E7C2FEC8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042926064" name="Объект 3">
            <a:extLst>
              <a:ext uri="{FF2B5EF4-FFF2-40B4-BE49-F238E27FC236}">
                <a16:creationId xmlns:a16="http://schemas.microsoft.com/office/drawing/2014/main" id="{925C0275-B9E0-414E-ADA8-BBC449EAD43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6" y="1016001"/>
            <a:ext cx="5670472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889770961" name="Дата 3">
            <a:extLst>
              <a:ext uri="{FF2B5EF4-FFF2-40B4-BE49-F238E27FC236}">
                <a16:creationId xmlns:a16="http://schemas.microsoft.com/office/drawing/2014/main" id="{44D841C0-CCB8-4978-A070-54AD213A3DD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3014BBE-C503-4380-A869-5EE8294FE947}" type="datetime1">
              <a:t>29.09.2026</a:t>
            </a:fld>
            <a:endParaRPr/>
          </a:p>
        </p:txBody>
      </p:sp>
      <p:sp>
        <p:nvSpPr>
          <p:cNvPr id="1213391983" name="Нижний колонтитул 4">
            <a:extLst>
              <a:ext uri="{FF2B5EF4-FFF2-40B4-BE49-F238E27FC236}">
                <a16:creationId xmlns:a16="http://schemas.microsoft.com/office/drawing/2014/main" id="{FDE00BE5-93D4-44FF-AB82-F27597C5C4E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837774908" name="Номер слайда 5">
            <a:extLst>
              <a:ext uri="{FF2B5EF4-FFF2-40B4-BE49-F238E27FC236}">
                <a16:creationId xmlns:a16="http://schemas.microsoft.com/office/drawing/2014/main" id="{E1B8B75E-7D40-4302-A8FF-DF7F66C2FD6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919287558" name="Заголовок 1">
            <a:extLst>
              <a:ext uri="{FF2B5EF4-FFF2-40B4-BE49-F238E27FC236}">
                <a16:creationId xmlns:a16="http://schemas.microsoft.com/office/drawing/2014/main" id="{1F2BB933-8BCD-4B4F-A546-E428B776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555898" name="Текст 2">
            <a:extLst>
              <a:ext uri="{FF2B5EF4-FFF2-40B4-BE49-F238E27FC236}">
                <a16:creationId xmlns:a16="http://schemas.microsoft.com/office/drawing/2014/main" id="{338D880A-28D1-4D35-BEB4-494650156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017223496" name="Объект 3">
            <a:extLst>
              <a:ext uri="{FF2B5EF4-FFF2-40B4-BE49-F238E27FC236}">
                <a16:creationId xmlns:a16="http://schemas.microsoft.com/office/drawing/2014/main" id="{F68E15D8-FEDE-48DF-B724-055C8DC5FE9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31636676" name="Текст 4">
            <a:extLst>
              <a:ext uri="{FF2B5EF4-FFF2-40B4-BE49-F238E27FC236}">
                <a16:creationId xmlns:a16="http://schemas.microsoft.com/office/drawing/2014/main" id="{BAA3438D-97CA-4D00-B59C-442CA7B7395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1712141" name="Объект 5">
            <a:extLst>
              <a:ext uri="{FF2B5EF4-FFF2-40B4-BE49-F238E27FC236}">
                <a16:creationId xmlns:a16="http://schemas.microsoft.com/office/drawing/2014/main" id="{2E28C209-654C-4135-9ECA-168F0E11DED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2" y="1598615"/>
            <a:ext cx="5670472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72805432" name="Дата 3">
            <a:extLst>
              <a:ext uri="{FF2B5EF4-FFF2-40B4-BE49-F238E27FC236}">
                <a16:creationId xmlns:a16="http://schemas.microsoft.com/office/drawing/2014/main" id="{685681E1-96ED-4063-BC45-85E88999451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0D568497-304A-497F-ADAE-97D3CF462C1C}" type="datetime1">
              <a:t>29.09.2026</a:t>
            </a:fld>
            <a:endParaRPr/>
          </a:p>
        </p:txBody>
      </p:sp>
      <p:sp>
        <p:nvSpPr>
          <p:cNvPr id="657734324" name="Нижний колонтитул 4">
            <a:extLst>
              <a:ext uri="{FF2B5EF4-FFF2-40B4-BE49-F238E27FC236}">
                <a16:creationId xmlns:a16="http://schemas.microsoft.com/office/drawing/2014/main" id="{7F8CB517-F6D8-4A70-8CB0-704A8CD7AF7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41445009" name="Номер слайда 5">
            <a:extLst>
              <a:ext uri="{FF2B5EF4-FFF2-40B4-BE49-F238E27FC236}">
                <a16:creationId xmlns:a16="http://schemas.microsoft.com/office/drawing/2014/main" id="{959E0EFA-BE57-4CBF-A88E-B88F1B4F5D7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291046477" name="Заголовок 1">
            <a:extLst>
              <a:ext uri="{FF2B5EF4-FFF2-40B4-BE49-F238E27FC236}">
                <a16:creationId xmlns:a16="http://schemas.microsoft.com/office/drawing/2014/main" id="{8CA00B7C-4721-4B71-A892-D2BBE568D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121395" name="Дата 3">
            <a:extLst>
              <a:ext uri="{FF2B5EF4-FFF2-40B4-BE49-F238E27FC236}">
                <a16:creationId xmlns:a16="http://schemas.microsoft.com/office/drawing/2014/main" id="{7F04111F-F476-48C6-911D-7C35E12670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2CB240C-04A3-49D4-83F9-87A9C6C414DC}" type="datetime1">
              <a:t>29.09.2026</a:t>
            </a:fld>
            <a:endParaRPr/>
          </a:p>
        </p:txBody>
      </p:sp>
      <p:sp>
        <p:nvSpPr>
          <p:cNvPr id="1484279738" name="Нижний колонтитул 4">
            <a:extLst>
              <a:ext uri="{FF2B5EF4-FFF2-40B4-BE49-F238E27FC236}">
                <a16:creationId xmlns:a16="http://schemas.microsoft.com/office/drawing/2014/main" id="{1AFD4ADD-07A0-4DD6-8D0F-6902AB1C5C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486186759" name="Номер слайда 5">
            <a:extLst>
              <a:ext uri="{FF2B5EF4-FFF2-40B4-BE49-F238E27FC236}">
                <a16:creationId xmlns:a16="http://schemas.microsoft.com/office/drawing/2014/main" id="{0CB56773-94D4-4C62-BDA1-02D0D04A4A0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>
            <a:extLst>
              <a:ext uri="{FF2B5EF4-FFF2-40B4-BE49-F238E27FC236}">
                <a16:creationId xmlns:a16="http://schemas.microsoft.com/office/drawing/2014/main" id="{486CEFB0-8196-4E3B-9604-8476CDBBE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975281028" name="Объект 2">
            <a:extLst>
              <a:ext uri="{FF2B5EF4-FFF2-40B4-BE49-F238E27FC236}">
                <a16:creationId xmlns:a16="http://schemas.microsoft.com/office/drawing/2014/main" id="{838C8B79-4C4D-47A6-8FE1-280018C81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896366570" name="Текст 3">
            <a:extLst>
              <a:ext uri="{FF2B5EF4-FFF2-40B4-BE49-F238E27FC236}">
                <a16:creationId xmlns:a16="http://schemas.microsoft.com/office/drawing/2014/main" id="{23D01D02-EF4A-4B4E-A5B0-F0E2D6A09B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376611987" name="Дата 3">
            <a:extLst>
              <a:ext uri="{FF2B5EF4-FFF2-40B4-BE49-F238E27FC236}">
                <a16:creationId xmlns:a16="http://schemas.microsoft.com/office/drawing/2014/main" id="{D789E08E-286D-4CF3-A1F7-7BD51D2430A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E74468B-3512-454B-AB51-7AE95604D39E}" type="datetime1">
              <a:t>29.09.2026</a:t>
            </a:fld>
            <a:endParaRPr/>
          </a:p>
        </p:txBody>
      </p:sp>
      <p:sp>
        <p:nvSpPr>
          <p:cNvPr id="1556152487" name="Нижний колонтитул 4">
            <a:extLst>
              <a:ext uri="{FF2B5EF4-FFF2-40B4-BE49-F238E27FC236}">
                <a16:creationId xmlns:a16="http://schemas.microsoft.com/office/drawing/2014/main" id="{C202AD25-B642-466A-AE66-83668545A6A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914589556" name="Номер слайда 5">
            <a:extLst>
              <a:ext uri="{FF2B5EF4-FFF2-40B4-BE49-F238E27FC236}">
                <a16:creationId xmlns:a16="http://schemas.microsoft.com/office/drawing/2014/main" id="{7B8B9E87-E425-45A5-87E3-6425EFCA7C9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01652" name="Дата 4">
            <a:extLst>
              <a:ext uri="{FF2B5EF4-FFF2-40B4-BE49-F238E27FC236}">
                <a16:creationId xmlns:a16="http://schemas.microsoft.com/office/drawing/2014/main" id="{9D0FC297-2459-4347-96A0-E6A60E11F6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ABAB2196-A440-4E25-B9FF-D0ADB01B1A15}" type="datetime1">
              <a:t>29.09.2026</a:t>
            </a:fld>
            <a:endParaRPr/>
          </a:p>
        </p:txBody>
      </p:sp>
      <p:sp>
        <p:nvSpPr>
          <p:cNvPr id="2075348248" name="Нижний колонтитул 5">
            <a:extLst>
              <a:ext uri="{FF2B5EF4-FFF2-40B4-BE49-F238E27FC236}">
                <a16:creationId xmlns:a16="http://schemas.microsoft.com/office/drawing/2014/main" id="{6591D98F-09E5-4621-BC73-2266BB01A0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519872225" name="Заголовок 1">
            <a:extLst>
              <a:ext uri="{FF2B5EF4-FFF2-40B4-BE49-F238E27FC236}">
                <a16:creationId xmlns:a16="http://schemas.microsoft.com/office/drawing/2014/main" id="{72009F52-00B0-4220-88F3-FB61C0468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/>
          <a:lstStyle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968345768" name="Номер слайда 5">
            <a:extLst>
              <a:ext uri="{FF2B5EF4-FFF2-40B4-BE49-F238E27FC236}">
                <a16:creationId xmlns:a16="http://schemas.microsoft.com/office/drawing/2014/main" id="{6C8C3787-EFF4-46E6-9311-E3236725AE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270877" name="Дата 3">
            <a:extLst>
              <a:ext uri="{FF2B5EF4-FFF2-40B4-BE49-F238E27FC236}">
                <a16:creationId xmlns:a16="http://schemas.microsoft.com/office/drawing/2014/main" id="{5133131B-5345-48D1-A437-D2ED9C5BAD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C7BAE699-64F9-49EF-B784-2DEF2B221955}" type="datetime1">
              <a:t>29.09.2026</a:t>
            </a:fld>
            <a:endParaRPr/>
          </a:p>
        </p:txBody>
      </p:sp>
      <p:sp>
        <p:nvSpPr>
          <p:cNvPr id="1950419902" name="Нижний колонтитул 4">
            <a:extLst>
              <a:ext uri="{FF2B5EF4-FFF2-40B4-BE49-F238E27FC236}">
                <a16:creationId xmlns:a16="http://schemas.microsoft.com/office/drawing/2014/main" id="{77A631AF-1418-457E-96BD-5007206CA24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20005845" name="Номер слайда 5">
            <a:extLst>
              <a:ext uri="{FF2B5EF4-FFF2-40B4-BE49-F238E27FC236}">
                <a16:creationId xmlns:a16="http://schemas.microsoft.com/office/drawing/2014/main" id="{958930C5-51F1-4BB4-BA82-1E47BFC432D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792380901" name="Текст 6">
            <a:extLst>
              <a:ext uri="{FF2B5EF4-FFF2-40B4-BE49-F238E27FC236}">
                <a16:creationId xmlns:a16="http://schemas.microsoft.com/office/drawing/2014/main" id="{60BC7A59-1AA4-41D5-AAB5-193F07781F4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874422937" name="Текст 9">
            <a:extLst>
              <a:ext uri="{FF2B5EF4-FFF2-40B4-BE49-F238E27FC236}">
                <a16:creationId xmlns:a16="http://schemas.microsoft.com/office/drawing/2014/main" id="{BEBF22C3-2C3A-4C30-997C-8E54259BC78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694822356" name="Текст 6">
            <a:extLst>
              <a:ext uri="{FF2B5EF4-FFF2-40B4-BE49-F238E27FC236}">
                <a16:creationId xmlns:a16="http://schemas.microsoft.com/office/drawing/2014/main" id="{54FF4481-7AC1-45A0-9A6D-95D58403AB3D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69095115" name="Текст 9">
            <a:extLst>
              <a:ext uri="{FF2B5EF4-FFF2-40B4-BE49-F238E27FC236}">
                <a16:creationId xmlns:a16="http://schemas.microsoft.com/office/drawing/2014/main" id="{56339C4D-B996-4906-8439-0A054FC49EFF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682530970" name="Текст 6">
            <a:extLst>
              <a:ext uri="{FF2B5EF4-FFF2-40B4-BE49-F238E27FC236}">
                <a16:creationId xmlns:a16="http://schemas.microsoft.com/office/drawing/2014/main" id="{975B624F-8012-4D9B-8CA0-0B2E533706F1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926454970" name="Текст 9">
            <a:extLst>
              <a:ext uri="{FF2B5EF4-FFF2-40B4-BE49-F238E27FC236}">
                <a16:creationId xmlns:a16="http://schemas.microsoft.com/office/drawing/2014/main" id="{D9D2994E-D649-40C0-89D2-9D6B626299C7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069797757" name="Текст 6">
            <a:extLst>
              <a:ext uri="{FF2B5EF4-FFF2-40B4-BE49-F238E27FC236}">
                <a16:creationId xmlns:a16="http://schemas.microsoft.com/office/drawing/2014/main" id="{EF3D0CBF-D4DF-427A-B34A-D5A753E8498A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635738940" name="Текст 9">
            <a:extLst>
              <a:ext uri="{FF2B5EF4-FFF2-40B4-BE49-F238E27FC236}">
                <a16:creationId xmlns:a16="http://schemas.microsoft.com/office/drawing/2014/main" id="{7FBCD902-5F3A-489D-840C-2802CFF5BEFE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476364177" name="Текст 6">
            <a:extLst>
              <a:ext uri="{FF2B5EF4-FFF2-40B4-BE49-F238E27FC236}">
                <a16:creationId xmlns:a16="http://schemas.microsoft.com/office/drawing/2014/main" id="{05CFA638-19D0-4357-93DC-20AB5EE8BB04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458554842" name="Текст 9">
            <a:extLst>
              <a:ext uri="{FF2B5EF4-FFF2-40B4-BE49-F238E27FC236}">
                <a16:creationId xmlns:a16="http://schemas.microsoft.com/office/drawing/2014/main" id="{4B34B730-F1C5-4611-8F1F-10319E12E8D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682611309" name="Текст 6">
            <a:extLst>
              <a:ext uri="{FF2B5EF4-FFF2-40B4-BE49-F238E27FC236}">
                <a16:creationId xmlns:a16="http://schemas.microsoft.com/office/drawing/2014/main" id="{83D6295D-5331-46FD-BF93-C51F60ED7A3D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680188690" name="Текст 9">
            <a:extLst>
              <a:ext uri="{FF2B5EF4-FFF2-40B4-BE49-F238E27FC236}">
                <a16:creationId xmlns:a16="http://schemas.microsoft.com/office/drawing/2014/main" id="{C1062F6C-759F-4FDF-ACB1-FC35607DD03D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957727187" name="Заголовок 1">
            <a:extLst>
              <a:ext uri="{FF2B5EF4-FFF2-40B4-BE49-F238E27FC236}">
                <a16:creationId xmlns:a16="http://schemas.microsoft.com/office/drawing/2014/main" id="{3A5735E5-EACD-4E8F-A4E6-BEEDC2AE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689925399" name="Текст 6">
            <a:extLst>
              <a:ext uri="{FF2B5EF4-FFF2-40B4-BE49-F238E27FC236}">
                <a16:creationId xmlns:a16="http://schemas.microsoft.com/office/drawing/2014/main" id="{2BE7C9EF-51E2-4323-86B9-E88FBCA268F5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256972101" name="Текст 6">
            <a:extLst>
              <a:ext uri="{FF2B5EF4-FFF2-40B4-BE49-F238E27FC236}">
                <a16:creationId xmlns:a16="http://schemas.microsoft.com/office/drawing/2014/main" id="{09931966-34DB-4D8C-A436-B90F9D00AAE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02</a:t>
            </a:r>
          </a:p>
        </p:txBody>
      </p:sp>
      <p:sp>
        <p:nvSpPr>
          <p:cNvPr id="1208148889" name="Текст 6">
            <a:extLst>
              <a:ext uri="{FF2B5EF4-FFF2-40B4-BE49-F238E27FC236}">
                <a16:creationId xmlns:a16="http://schemas.microsoft.com/office/drawing/2014/main" id="{4CC94B20-AAAB-4D84-BC29-0C784741A29F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03</a:t>
            </a:r>
          </a:p>
        </p:txBody>
      </p:sp>
      <p:sp>
        <p:nvSpPr>
          <p:cNvPr id="684210003" name="Текст 6">
            <a:extLst>
              <a:ext uri="{FF2B5EF4-FFF2-40B4-BE49-F238E27FC236}">
                <a16:creationId xmlns:a16="http://schemas.microsoft.com/office/drawing/2014/main" id="{35D8BAA8-BDDB-4935-AD2E-2F0289672F81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04</a:t>
            </a:r>
          </a:p>
        </p:txBody>
      </p:sp>
      <p:sp>
        <p:nvSpPr>
          <p:cNvPr id="12519466" name="Текст 6">
            <a:extLst>
              <a:ext uri="{FF2B5EF4-FFF2-40B4-BE49-F238E27FC236}">
                <a16:creationId xmlns:a16="http://schemas.microsoft.com/office/drawing/2014/main" id="{3990EBA9-C046-4205-B94D-DF8CF328C49B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05</a:t>
            </a:r>
          </a:p>
        </p:txBody>
      </p:sp>
      <p:sp>
        <p:nvSpPr>
          <p:cNvPr id="1969617493" name="Текст 6">
            <a:extLst>
              <a:ext uri="{FF2B5EF4-FFF2-40B4-BE49-F238E27FC236}">
                <a16:creationId xmlns:a16="http://schemas.microsoft.com/office/drawing/2014/main" id="{A562D5B9-D638-4252-AD07-440B2ABEE7B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06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08475" name="Дата 3">
            <a:extLst>
              <a:ext uri="{FF2B5EF4-FFF2-40B4-BE49-F238E27FC236}">
                <a16:creationId xmlns:a16="http://schemas.microsoft.com/office/drawing/2014/main" id="{670AAAB5-E97A-4F6E-B415-032F9575D2E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CAFA80CC-940E-479C-90C0-76DA923785E9}" type="datetime1">
              <a:t>29.09.2026</a:t>
            </a:fld>
            <a:endParaRPr/>
          </a:p>
        </p:txBody>
      </p:sp>
      <p:sp>
        <p:nvSpPr>
          <p:cNvPr id="2088193324" name="Нижний колонтитул 4">
            <a:extLst>
              <a:ext uri="{FF2B5EF4-FFF2-40B4-BE49-F238E27FC236}">
                <a16:creationId xmlns:a16="http://schemas.microsoft.com/office/drawing/2014/main" id="{76E4095C-5C15-44BC-821C-A29FA61612E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75758961" name="Номер слайда 5">
            <a:extLst>
              <a:ext uri="{FF2B5EF4-FFF2-40B4-BE49-F238E27FC236}">
                <a16:creationId xmlns:a16="http://schemas.microsoft.com/office/drawing/2014/main" id="{C783DF1D-2D47-444C-882E-4D7D56949E9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177865552" name="Заголовок 1">
            <a:extLst>
              <a:ext uri="{FF2B5EF4-FFF2-40B4-BE49-F238E27FC236}">
                <a16:creationId xmlns:a16="http://schemas.microsoft.com/office/drawing/2014/main" id="{D60082F0-3F68-4820-982E-D362B4B35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839753479" name="Рисунок 7">
            <a:extLst>
              <a:ext uri="{FF2B5EF4-FFF2-40B4-BE49-F238E27FC236}">
                <a16:creationId xmlns:a16="http://schemas.microsoft.com/office/drawing/2014/main" id="{AFC4DC75-9E5A-4DD9-B374-124F922302A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67254588" name="Рисунок 9">
            <a:extLst>
              <a:ext uri="{FF2B5EF4-FFF2-40B4-BE49-F238E27FC236}">
                <a16:creationId xmlns:a16="http://schemas.microsoft.com/office/drawing/2014/main" id="{D168D86E-34B0-4FBA-9AD5-4B71A39F778C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01935067" name="Рисунок 11">
            <a:extLst>
              <a:ext uri="{FF2B5EF4-FFF2-40B4-BE49-F238E27FC236}">
                <a16:creationId xmlns:a16="http://schemas.microsoft.com/office/drawing/2014/main" id="{E59FFFFE-E32F-4696-AC23-36335D5224A8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620516688" name="Текст 15">
            <a:extLst>
              <a:ext uri="{FF2B5EF4-FFF2-40B4-BE49-F238E27FC236}">
                <a16:creationId xmlns:a16="http://schemas.microsoft.com/office/drawing/2014/main" id="{F66A970C-6155-4913-974F-B2038BBDD1E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253298" name="Дата 3">
            <a:extLst>
              <a:ext uri="{FF2B5EF4-FFF2-40B4-BE49-F238E27FC236}">
                <a16:creationId xmlns:a16="http://schemas.microsoft.com/office/drawing/2014/main" id="{6E310A09-00CF-4DFA-A47E-90CF2B0B1E8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82A4DA7B-A7D8-4443-AD1C-4C7CDC678488}" type="datetime1">
              <a:t>29.09.2026</a:t>
            </a:fld>
            <a:endParaRPr/>
          </a:p>
        </p:txBody>
      </p:sp>
      <p:sp>
        <p:nvSpPr>
          <p:cNvPr id="1495724826" name="Нижний колонтитул 4">
            <a:extLst>
              <a:ext uri="{FF2B5EF4-FFF2-40B4-BE49-F238E27FC236}">
                <a16:creationId xmlns:a16="http://schemas.microsoft.com/office/drawing/2014/main" id="{2C15DC09-3B9C-4BA9-BE55-8ACEE97BF17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884074013" name="Заголовок 1">
            <a:extLst>
              <a:ext uri="{FF2B5EF4-FFF2-40B4-BE49-F238E27FC236}">
                <a16:creationId xmlns:a16="http://schemas.microsoft.com/office/drawing/2014/main" id="{6020F6F3-7D2C-4FB5-9BCC-E0E4CB8E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2103893195" name="Текст 101">
            <a:extLst>
              <a:ext uri="{FF2B5EF4-FFF2-40B4-BE49-F238E27FC236}">
                <a16:creationId xmlns:a16="http://schemas.microsoft.com/office/drawing/2014/main" id="{7AE0786D-65FC-407D-99AE-A81A855E11F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808292524" name="Текст 74">
            <a:extLst>
              <a:ext uri="{FF2B5EF4-FFF2-40B4-BE49-F238E27FC236}">
                <a16:creationId xmlns:a16="http://schemas.microsoft.com/office/drawing/2014/main" id="{C20AA71C-09C5-42D5-A1E4-1B516A0F028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031151279" name="Текст 74">
            <a:extLst>
              <a:ext uri="{FF2B5EF4-FFF2-40B4-BE49-F238E27FC236}">
                <a16:creationId xmlns:a16="http://schemas.microsoft.com/office/drawing/2014/main" id="{B0F0E90C-42C8-4864-897B-CCC5A08B46A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98998086" name="Текст 74">
            <a:extLst>
              <a:ext uri="{FF2B5EF4-FFF2-40B4-BE49-F238E27FC236}">
                <a16:creationId xmlns:a16="http://schemas.microsoft.com/office/drawing/2014/main" id="{DF33C5C0-E0CD-4742-93AB-B0AD449B780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41709136" name="Текст 74">
            <a:extLst>
              <a:ext uri="{FF2B5EF4-FFF2-40B4-BE49-F238E27FC236}">
                <a16:creationId xmlns:a16="http://schemas.microsoft.com/office/drawing/2014/main" id="{F93E04F1-994D-4C82-A961-A839646CE55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39403092" name="Текст 74">
            <a:extLst>
              <a:ext uri="{FF2B5EF4-FFF2-40B4-BE49-F238E27FC236}">
                <a16:creationId xmlns:a16="http://schemas.microsoft.com/office/drawing/2014/main" id="{437DD4B0-094F-4023-BEE0-24CCE85C429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54082" name="Дата 3">
            <a:extLst>
              <a:ext uri="{FF2B5EF4-FFF2-40B4-BE49-F238E27FC236}">
                <a16:creationId xmlns:a16="http://schemas.microsoft.com/office/drawing/2014/main" id="{2BD72D73-2A9C-4A3D-B61A-0F63A407CD0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4E505DF-C567-47F2-9374-60838F800101}" type="datetime1">
              <a:t>29.09.2026</a:t>
            </a:fld>
            <a:endParaRPr/>
          </a:p>
        </p:txBody>
      </p:sp>
      <p:sp>
        <p:nvSpPr>
          <p:cNvPr id="1510793381" name="Нижний колонтитул 4">
            <a:extLst>
              <a:ext uri="{FF2B5EF4-FFF2-40B4-BE49-F238E27FC236}">
                <a16:creationId xmlns:a16="http://schemas.microsoft.com/office/drawing/2014/main" id="{6249C9F4-7BC3-4DFB-B6D5-8E3FA7FFD6E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552299328" name="Номер слайда 5">
            <a:extLst>
              <a:ext uri="{FF2B5EF4-FFF2-40B4-BE49-F238E27FC236}">
                <a16:creationId xmlns:a16="http://schemas.microsoft.com/office/drawing/2014/main" id="{C1CF8BFF-D4BB-4601-9670-0A8E71C76D5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337256866" name="Заголовок 1">
            <a:extLst>
              <a:ext uri="{FF2B5EF4-FFF2-40B4-BE49-F238E27FC236}">
                <a16:creationId xmlns:a16="http://schemas.microsoft.com/office/drawing/2014/main" id="{515E4F13-1A95-4EDB-9253-41AD0659E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868929240" name="Текст 35">
            <a:extLst>
              <a:ext uri="{FF2B5EF4-FFF2-40B4-BE49-F238E27FC236}">
                <a16:creationId xmlns:a16="http://schemas.microsoft.com/office/drawing/2014/main" id="{BE4F27E3-37A5-45AD-A338-61E6E7CF4844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38882151" name="Текст 35">
            <a:extLst>
              <a:ext uri="{FF2B5EF4-FFF2-40B4-BE49-F238E27FC236}">
                <a16:creationId xmlns:a16="http://schemas.microsoft.com/office/drawing/2014/main" id="{6A05C853-0E1E-479C-B0A0-65CE63E0690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18155805" name="Текст 35">
            <a:extLst>
              <a:ext uri="{FF2B5EF4-FFF2-40B4-BE49-F238E27FC236}">
                <a16:creationId xmlns:a16="http://schemas.microsoft.com/office/drawing/2014/main" id="{AEAB7AB5-CD38-467E-9DE7-75F97ED48ACC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63972428" name="Текст 35">
            <a:extLst>
              <a:ext uri="{FF2B5EF4-FFF2-40B4-BE49-F238E27FC236}">
                <a16:creationId xmlns:a16="http://schemas.microsoft.com/office/drawing/2014/main" id="{9C2B7605-2038-41FE-8C8C-7E92BC8CB31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64720584" name="Текст 35">
            <a:extLst>
              <a:ext uri="{FF2B5EF4-FFF2-40B4-BE49-F238E27FC236}">
                <a16:creationId xmlns:a16="http://schemas.microsoft.com/office/drawing/2014/main" id="{F889F2F4-A6C3-4DF8-8F05-D12040809F21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22754983" name="Текст 35">
            <a:extLst>
              <a:ext uri="{FF2B5EF4-FFF2-40B4-BE49-F238E27FC236}">
                <a16:creationId xmlns:a16="http://schemas.microsoft.com/office/drawing/2014/main" id="{597C6945-3FC4-43DE-9146-F9E5AC772407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581099" name="Дата 3">
            <a:extLst>
              <a:ext uri="{FF2B5EF4-FFF2-40B4-BE49-F238E27FC236}">
                <a16:creationId xmlns:a16="http://schemas.microsoft.com/office/drawing/2014/main" id="{282AD280-D886-49CE-B49A-D605EF11BD7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2938A0C3-5C2F-47B8-B008-79A49A1195BA}" type="datetime1">
              <a:t>29.09.2026</a:t>
            </a:fld>
            <a:endParaRPr/>
          </a:p>
        </p:txBody>
      </p:sp>
      <p:sp>
        <p:nvSpPr>
          <p:cNvPr id="450794199" name="Нижний колонтитул 4">
            <a:extLst>
              <a:ext uri="{FF2B5EF4-FFF2-40B4-BE49-F238E27FC236}">
                <a16:creationId xmlns:a16="http://schemas.microsoft.com/office/drawing/2014/main" id="{6264115E-0CD6-4D94-9F25-A9C80BC3231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900815293" name="Номер слайда 5">
            <a:extLst>
              <a:ext uri="{FF2B5EF4-FFF2-40B4-BE49-F238E27FC236}">
                <a16:creationId xmlns:a16="http://schemas.microsoft.com/office/drawing/2014/main" id="{F65AA14D-5F91-416B-8B47-68C5CF80810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597326524" name="Заголовок 1">
            <a:extLst>
              <a:ext uri="{FF2B5EF4-FFF2-40B4-BE49-F238E27FC236}">
                <a16:creationId xmlns:a16="http://schemas.microsoft.com/office/drawing/2014/main" id="{1A5BBD36-7A84-45E9-AB99-13906DB5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691145851" name="Текст 35">
            <a:extLst>
              <a:ext uri="{FF2B5EF4-FFF2-40B4-BE49-F238E27FC236}">
                <a16:creationId xmlns:a16="http://schemas.microsoft.com/office/drawing/2014/main" id="{504C8ACC-A5F7-4D4C-8395-BCE235F52F0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1476688" name="Текст 35">
            <a:extLst>
              <a:ext uri="{FF2B5EF4-FFF2-40B4-BE49-F238E27FC236}">
                <a16:creationId xmlns:a16="http://schemas.microsoft.com/office/drawing/2014/main" id="{4AA970F7-D247-4FBC-9656-97007DAE89FC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30660304" name="Текст 35">
            <a:extLst>
              <a:ext uri="{FF2B5EF4-FFF2-40B4-BE49-F238E27FC236}">
                <a16:creationId xmlns:a16="http://schemas.microsoft.com/office/drawing/2014/main" id="{B7433836-9782-4713-B9C7-9A65959B7AA3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399164481" name="Текст 35">
            <a:extLst>
              <a:ext uri="{FF2B5EF4-FFF2-40B4-BE49-F238E27FC236}">
                <a16:creationId xmlns:a16="http://schemas.microsoft.com/office/drawing/2014/main" id="{17DA0585-BDC7-4E06-98B8-03ACDC38AEEE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160248213" name="Текст 35">
            <a:extLst>
              <a:ext uri="{FF2B5EF4-FFF2-40B4-BE49-F238E27FC236}">
                <a16:creationId xmlns:a16="http://schemas.microsoft.com/office/drawing/2014/main" id="{792F90E2-9303-41D2-8FA6-6E7BC18D6C33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1652764" name="Текст 35">
            <a:extLst>
              <a:ext uri="{FF2B5EF4-FFF2-40B4-BE49-F238E27FC236}">
                <a16:creationId xmlns:a16="http://schemas.microsoft.com/office/drawing/2014/main" id="{AB9C5A35-716E-4A98-A63A-843C11A9471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69505246" name="Текст 35">
            <a:extLst>
              <a:ext uri="{FF2B5EF4-FFF2-40B4-BE49-F238E27FC236}">
                <a16:creationId xmlns:a16="http://schemas.microsoft.com/office/drawing/2014/main" id="{E044D8C1-5219-4416-8573-D05731D0F08B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69304354" name="Текст 35">
            <a:extLst>
              <a:ext uri="{FF2B5EF4-FFF2-40B4-BE49-F238E27FC236}">
                <a16:creationId xmlns:a16="http://schemas.microsoft.com/office/drawing/2014/main" id="{F8DFB6F3-DD75-4114-8C99-B3CDDC3CD4A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69273" name="Дата 3">
            <a:extLst>
              <a:ext uri="{FF2B5EF4-FFF2-40B4-BE49-F238E27FC236}">
                <a16:creationId xmlns:a16="http://schemas.microsoft.com/office/drawing/2014/main" id="{132DDC6D-FB26-4AA6-9BA8-66562E76DEF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BF4F29EB-DFD0-428E-8E89-ED117A3553E3}" type="datetime1">
              <a:t>29.09.2026</a:t>
            </a:fld>
            <a:endParaRPr/>
          </a:p>
        </p:txBody>
      </p:sp>
      <p:sp>
        <p:nvSpPr>
          <p:cNvPr id="343755584" name="Нижний колонтитул 4">
            <a:extLst>
              <a:ext uri="{FF2B5EF4-FFF2-40B4-BE49-F238E27FC236}">
                <a16:creationId xmlns:a16="http://schemas.microsoft.com/office/drawing/2014/main" id="{3AE4D4E3-19EE-4427-A3E3-BD138E8DC88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971522661" name="Номер слайда 5">
            <a:extLst>
              <a:ext uri="{FF2B5EF4-FFF2-40B4-BE49-F238E27FC236}">
                <a16:creationId xmlns:a16="http://schemas.microsoft.com/office/drawing/2014/main" id="{5C27BDC2-8234-4B31-923D-C587194FAE7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245142924" name="Заголовок 1">
            <a:extLst>
              <a:ext uri="{FF2B5EF4-FFF2-40B4-BE49-F238E27FC236}">
                <a16:creationId xmlns:a16="http://schemas.microsoft.com/office/drawing/2014/main" id="{BE20081E-A218-47BC-9F99-DF996B9A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632442884" name="Текст 35">
            <a:extLst>
              <a:ext uri="{FF2B5EF4-FFF2-40B4-BE49-F238E27FC236}">
                <a16:creationId xmlns:a16="http://schemas.microsoft.com/office/drawing/2014/main" id="{13FF062C-1BAA-4F30-8417-E562B9307498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91519423" name="Текст 35">
            <a:extLst>
              <a:ext uri="{FF2B5EF4-FFF2-40B4-BE49-F238E27FC236}">
                <a16:creationId xmlns:a16="http://schemas.microsoft.com/office/drawing/2014/main" id="{EDBE4016-7553-41C8-BEB6-4B54F129D3FE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018792073" name="Текст 35">
            <a:extLst>
              <a:ext uri="{FF2B5EF4-FFF2-40B4-BE49-F238E27FC236}">
                <a16:creationId xmlns:a16="http://schemas.microsoft.com/office/drawing/2014/main" id="{3AFD6722-3D20-4238-8BF6-EB33CBBAD5C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82414852" name="Текст 35">
            <a:extLst>
              <a:ext uri="{FF2B5EF4-FFF2-40B4-BE49-F238E27FC236}">
                <a16:creationId xmlns:a16="http://schemas.microsoft.com/office/drawing/2014/main" id="{624CFFB9-ED7C-4F0F-BE41-E6F014A86AB0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54076117" name="Текст 35">
            <a:extLst>
              <a:ext uri="{FF2B5EF4-FFF2-40B4-BE49-F238E27FC236}">
                <a16:creationId xmlns:a16="http://schemas.microsoft.com/office/drawing/2014/main" id="{3C2C7958-32F2-4E34-9763-2E6AFF51BFD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62832623" name="Текст 35">
            <a:extLst>
              <a:ext uri="{FF2B5EF4-FFF2-40B4-BE49-F238E27FC236}">
                <a16:creationId xmlns:a16="http://schemas.microsoft.com/office/drawing/2014/main" id="{F049B948-A965-4052-93A5-88E25C1B652A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06192035" name="Текст 35">
            <a:extLst>
              <a:ext uri="{FF2B5EF4-FFF2-40B4-BE49-F238E27FC236}">
                <a16:creationId xmlns:a16="http://schemas.microsoft.com/office/drawing/2014/main" id="{57DCB93F-BE17-4E40-8E5D-F4F6881EA3B4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154626048" name="Текст 35">
            <a:extLst>
              <a:ext uri="{FF2B5EF4-FFF2-40B4-BE49-F238E27FC236}">
                <a16:creationId xmlns:a16="http://schemas.microsoft.com/office/drawing/2014/main" id="{40BA44D4-B63C-4594-BF02-283F6150E20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498588" name="Дата 3">
            <a:extLst>
              <a:ext uri="{FF2B5EF4-FFF2-40B4-BE49-F238E27FC236}">
                <a16:creationId xmlns:a16="http://schemas.microsoft.com/office/drawing/2014/main" id="{32660486-BAF0-41D3-B65D-506DF527C6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52F0272-0FEA-44CE-966E-3D169B2F53D4}" type="datetime1">
              <a:t>29.09.2026</a:t>
            </a:fld>
            <a:endParaRPr/>
          </a:p>
        </p:txBody>
      </p:sp>
      <p:sp>
        <p:nvSpPr>
          <p:cNvPr id="1448452554" name="Нижний колонтитул 4">
            <a:extLst>
              <a:ext uri="{FF2B5EF4-FFF2-40B4-BE49-F238E27FC236}">
                <a16:creationId xmlns:a16="http://schemas.microsoft.com/office/drawing/2014/main" id="{093E8C0A-8A45-4656-9504-B97EFC90A1C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233109929" name="Номер слайда 5">
            <a:extLst>
              <a:ext uri="{FF2B5EF4-FFF2-40B4-BE49-F238E27FC236}">
                <a16:creationId xmlns:a16="http://schemas.microsoft.com/office/drawing/2014/main" id="{B132081B-76D6-4FBB-9899-5C5A621ACB6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124927468" name="Текст 35">
            <a:extLst>
              <a:ext uri="{FF2B5EF4-FFF2-40B4-BE49-F238E27FC236}">
                <a16:creationId xmlns:a16="http://schemas.microsoft.com/office/drawing/2014/main" id="{2B4F742D-6696-4E59-A822-9C7BA9FF8521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13225624" name="Текст 35">
            <a:extLst>
              <a:ext uri="{FF2B5EF4-FFF2-40B4-BE49-F238E27FC236}">
                <a16:creationId xmlns:a16="http://schemas.microsoft.com/office/drawing/2014/main" id="{BCDA6377-D444-48B3-A7B2-A02613192CE6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376240833" name="Текст 35">
            <a:extLst>
              <a:ext uri="{FF2B5EF4-FFF2-40B4-BE49-F238E27FC236}">
                <a16:creationId xmlns:a16="http://schemas.microsoft.com/office/drawing/2014/main" id="{E1C6B9CE-A92C-428C-840F-7A98D83752AB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76004260" name="Текст 35">
            <a:extLst>
              <a:ext uri="{FF2B5EF4-FFF2-40B4-BE49-F238E27FC236}">
                <a16:creationId xmlns:a16="http://schemas.microsoft.com/office/drawing/2014/main" id="{22BB8D6E-FF9E-4386-8052-57CF96E4887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77609924" name="Текст 35">
            <a:extLst>
              <a:ext uri="{FF2B5EF4-FFF2-40B4-BE49-F238E27FC236}">
                <a16:creationId xmlns:a16="http://schemas.microsoft.com/office/drawing/2014/main" id="{089356F1-69CA-4A46-9051-E30F82D6647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9710853" name="Текст 35">
            <a:extLst>
              <a:ext uri="{FF2B5EF4-FFF2-40B4-BE49-F238E27FC236}">
                <a16:creationId xmlns:a16="http://schemas.microsoft.com/office/drawing/2014/main" id="{07607A0F-AFD7-4726-A8D6-B39F46593A4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49188184" name="Текст 35">
            <a:extLst>
              <a:ext uri="{FF2B5EF4-FFF2-40B4-BE49-F238E27FC236}">
                <a16:creationId xmlns:a16="http://schemas.microsoft.com/office/drawing/2014/main" id="{3846C82C-5BCD-49BF-A352-3899B32B75B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68968598" name="Текст 35">
            <a:extLst>
              <a:ext uri="{FF2B5EF4-FFF2-40B4-BE49-F238E27FC236}">
                <a16:creationId xmlns:a16="http://schemas.microsoft.com/office/drawing/2014/main" id="{F2366920-B061-4845-9621-B65D63B56B8F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95903953" name="Текст 35">
            <a:extLst>
              <a:ext uri="{FF2B5EF4-FFF2-40B4-BE49-F238E27FC236}">
                <a16:creationId xmlns:a16="http://schemas.microsoft.com/office/drawing/2014/main" id="{C7CC38F3-52E8-4EBF-9E42-5B9E030BC6AA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10288170" name="Текст 35">
            <a:extLst>
              <a:ext uri="{FF2B5EF4-FFF2-40B4-BE49-F238E27FC236}">
                <a16:creationId xmlns:a16="http://schemas.microsoft.com/office/drawing/2014/main" id="{D3639819-5BF4-4661-8775-D3FE698B76E7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4155163" name="Заголовок 1">
            <a:extLst>
              <a:ext uri="{FF2B5EF4-FFF2-40B4-BE49-F238E27FC236}">
                <a16:creationId xmlns:a16="http://schemas.microsoft.com/office/drawing/2014/main" id="{DC9B9654-0E52-49C1-AACF-1E92E1322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579838" name="Дата 3">
            <a:extLst>
              <a:ext uri="{FF2B5EF4-FFF2-40B4-BE49-F238E27FC236}">
                <a16:creationId xmlns:a16="http://schemas.microsoft.com/office/drawing/2014/main" id="{6127C9C2-134D-4B4E-9958-84234F974A0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062B0DBE-B5A9-470E-85A9-7CC062D5339A}" type="datetime1">
              <a:t>29.09.2026</a:t>
            </a:fld>
            <a:endParaRPr/>
          </a:p>
        </p:txBody>
      </p:sp>
      <p:sp>
        <p:nvSpPr>
          <p:cNvPr id="1675805337" name="Нижний колонтитул 4">
            <a:extLst>
              <a:ext uri="{FF2B5EF4-FFF2-40B4-BE49-F238E27FC236}">
                <a16:creationId xmlns:a16="http://schemas.microsoft.com/office/drawing/2014/main" id="{BE977614-3F53-4C57-80DB-A887DEA7FCD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314337200" name="Номер слайда 5">
            <a:extLst>
              <a:ext uri="{FF2B5EF4-FFF2-40B4-BE49-F238E27FC236}">
                <a16:creationId xmlns:a16="http://schemas.microsoft.com/office/drawing/2014/main" id="{C783CD9B-A816-42AC-94BB-F99E4EF1692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560885061" name="Заголовок 1">
            <a:extLst>
              <a:ext uri="{FF2B5EF4-FFF2-40B4-BE49-F238E27FC236}">
                <a16:creationId xmlns:a16="http://schemas.microsoft.com/office/drawing/2014/main" id="{A44D8B87-3187-44ED-A42D-87FFF9913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122197277" name="Текст 35">
            <a:extLst>
              <a:ext uri="{FF2B5EF4-FFF2-40B4-BE49-F238E27FC236}">
                <a16:creationId xmlns:a16="http://schemas.microsoft.com/office/drawing/2014/main" id="{0B8B0672-9F3E-44E0-9A13-496AF167560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16118850" name="Текст 35">
            <a:extLst>
              <a:ext uri="{FF2B5EF4-FFF2-40B4-BE49-F238E27FC236}">
                <a16:creationId xmlns:a16="http://schemas.microsoft.com/office/drawing/2014/main" id="{8515C12B-F99F-47BC-8F94-A18CB7C5E5B2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428729295" name="Текст 35">
            <a:extLst>
              <a:ext uri="{FF2B5EF4-FFF2-40B4-BE49-F238E27FC236}">
                <a16:creationId xmlns:a16="http://schemas.microsoft.com/office/drawing/2014/main" id="{E47A3BE7-01C0-47E4-AF15-3C1101F84EE8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856443119" name="Текст 35">
            <a:extLst>
              <a:ext uri="{FF2B5EF4-FFF2-40B4-BE49-F238E27FC236}">
                <a16:creationId xmlns:a16="http://schemas.microsoft.com/office/drawing/2014/main" id="{42EFF7E4-20E0-4E11-9C95-F7E46E3C62F6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Проблема</a:t>
            </a:r>
          </a:p>
        </p:txBody>
      </p:sp>
      <p:sp>
        <p:nvSpPr>
          <p:cNvPr id="1922520453" name="Текст 35">
            <a:extLst>
              <a:ext uri="{FF2B5EF4-FFF2-40B4-BE49-F238E27FC236}">
                <a16:creationId xmlns:a16="http://schemas.microsoft.com/office/drawing/2014/main" id="{64B37209-34A4-44B4-A506-6022C695ADE3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034779806" name="Текст 35">
            <a:extLst>
              <a:ext uri="{FF2B5EF4-FFF2-40B4-BE49-F238E27FC236}">
                <a16:creationId xmlns:a16="http://schemas.microsoft.com/office/drawing/2014/main" id="{4C91C095-D321-4333-AEF2-1D97C723E4FF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Решение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>
            <a:extLst>
              <a:ext uri="{FF2B5EF4-FFF2-40B4-BE49-F238E27FC236}">
                <a16:creationId xmlns:a16="http://schemas.microsoft.com/office/drawing/2014/main" id="{0FC46EAA-DFDA-4406-90EC-680819D437A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896489918" name="Дата 3">
            <a:extLst>
              <a:ext uri="{FF2B5EF4-FFF2-40B4-BE49-F238E27FC236}">
                <a16:creationId xmlns:a16="http://schemas.microsoft.com/office/drawing/2014/main" id="{7C1D34A6-7748-45B6-ACD7-A90FBA59E29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D396B86-640F-4AD1-BBB2-E085B6CD8771}" type="datetime1">
              <a:t>29.09.2026</a:t>
            </a:fld>
            <a:endParaRPr/>
          </a:p>
        </p:txBody>
      </p:sp>
      <p:sp>
        <p:nvSpPr>
          <p:cNvPr id="378127741" name="Нижний колонтитул 4">
            <a:extLst>
              <a:ext uri="{FF2B5EF4-FFF2-40B4-BE49-F238E27FC236}">
                <a16:creationId xmlns:a16="http://schemas.microsoft.com/office/drawing/2014/main" id="{F08440DC-034B-408C-A3C2-039816B9F8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938890696" name="Номер слайда 5">
            <a:extLst>
              <a:ext uri="{FF2B5EF4-FFF2-40B4-BE49-F238E27FC236}">
                <a16:creationId xmlns:a16="http://schemas.microsoft.com/office/drawing/2014/main" id="{11283F7E-D800-44C6-B595-FB17E5EDA05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347150518" name="Заголовок 1">
            <a:extLst>
              <a:ext uri="{FF2B5EF4-FFF2-40B4-BE49-F238E27FC236}">
                <a16:creationId xmlns:a16="http://schemas.microsoft.com/office/drawing/2014/main" id="{695682A9-BB2F-4DC7-A151-AD1BAB7A0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2021024583" name="Текст 7">
            <a:extLst>
              <a:ext uri="{FF2B5EF4-FFF2-40B4-BE49-F238E27FC236}">
                <a16:creationId xmlns:a16="http://schemas.microsoft.com/office/drawing/2014/main" id="{4395735E-4FD7-4B99-978E-FCF528A0C5A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320280167" name="Текст 7">
            <a:extLst>
              <a:ext uri="{FF2B5EF4-FFF2-40B4-BE49-F238E27FC236}">
                <a16:creationId xmlns:a16="http://schemas.microsoft.com/office/drawing/2014/main" id="{D381D7BA-554C-4057-9395-AB44C6FD790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04478788" name="Текст 7">
            <a:extLst>
              <a:ext uri="{FF2B5EF4-FFF2-40B4-BE49-F238E27FC236}">
                <a16:creationId xmlns:a16="http://schemas.microsoft.com/office/drawing/2014/main" id="{4F28A73D-1FE3-4E64-B315-243AB2AF00C4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23572" name="Дата 3">
            <a:extLst>
              <a:ext uri="{FF2B5EF4-FFF2-40B4-BE49-F238E27FC236}">
                <a16:creationId xmlns:a16="http://schemas.microsoft.com/office/drawing/2014/main" id="{F8952EEC-84B6-4099-824D-756B65EB371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3AF0E63-1EB1-47F5-B09E-CA3E5DE528F3}" type="datetime1">
              <a:t>29.09.2026</a:t>
            </a:fld>
            <a:endParaRPr/>
          </a:p>
        </p:txBody>
      </p:sp>
      <p:sp>
        <p:nvSpPr>
          <p:cNvPr id="1147169938" name="Нижний колонтитул 4">
            <a:extLst>
              <a:ext uri="{FF2B5EF4-FFF2-40B4-BE49-F238E27FC236}">
                <a16:creationId xmlns:a16="http://schemas.microsoft.com/office/drawing/2014/main" id="{3E6EE623-4D19-4358-ABE0-A2ECBDE7E56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30368713" name="Номер слайда 5">
            <a:extLst>
              <a:ext uri="{FF2B5EF4-FFF2-40B4-BE49-F238E27FC236}">
                <a16:creationId xmlns:a16="http://schemas.microsoft.com/office/drawing/2014/main" id="{23581808-827B-4C36-8863-50A36529F30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259102376" name="Заголовок 1">
            <a:extLst>
              <a:ext uri="{FF2B5EF4-FFF2-40B4-BE49-F238E27FC236}">
                <a16:creationId xmlns:a16="http://schemas.microsoft.com/office/drawing/2014/main" id="{FE5A89DB-1FE6-479E-B45B-AE720CFE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93639810" name="Текст 7">
            <a:extLst>
              <a:ext uri="{FF2B5EF4-FFF2-40B4-BE49-F238E27FC236}">
                <a16:creationId xmlns:a16="http://schemas.microsoft.com/office/drawing/2014/main" id="{DCDD392E-1CC6-4D11-ADD5-FA73E131E3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9722443" name="Текст 7">
            <a:extLst>
              <a:ext uri="{FF2B5EF4-FFF2-40B4-BE49-F238E27FC236}">
                <a16:creationId xmlns:a16="http://schemas.microsoft.com/office/drawing/2014/main" id="{BD483BD8-B546-4888-9411-A63B75E81FF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25584501" name="Picture Placeholder 1">
            <a:extLst>
              <a:ext uri="{FF2B5EF4-FFF2-40B4-BE49-F238E27FC236}">
                <a16:creationId xmlns:a16="http://schemas.microsoft.com/office/drawing/2014/main" id="{91F9EBC4-9EDA-4B79-A499-4B71B56E07D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823724485" name="Picture Placeholder 1">
            <a:extLst>
              <a:ext uri="{FF2B5EF4-FFF2-40B4-BE49-F238E27FC236}">
                <a16:creationId xmlns:a16="http://schemas.microsoft.com/office/drawing/2014/main" id="{1311A1D9-BB07-4DFF-80F4-72DF25903416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>
            <a:extLst>
              <a:ext uri="{FF2B5EF4-FFF2-40B4-BE49-F238E27FC236}">
                <a16:creationId xmlns:a16="http://schemas.microsoft.com/office/drawing/2014/main" id="{01176C5E-0E24-4127-AD6D-9729E41F2F0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>
            <a:extLst>
              <a:ext uri="{FF2B5EF4-FFF2-40B4-BE49-F238E27FC236}">
                <a16:creationId xmlns:a16="http://schemas.microsoft.com/office/drawing/2014/main" id="{03FFABE6-A96C-4BDD-8496-8CC361E1F260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61976731" name="Текст 35">
            <a:extLst>
              <a:ext uri="{FF2B5EF4-FFF2-40B4-BE49-F238E27FC236}">
                <a16:creationId xmlns:a16="http://schemas.microsoft.com/office/drawing/2014/main" id="{BDCFB3DC-3B5A-4D47-8BBF-38FB017156C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90673764" name="Текст 35">
            <a:extLst>
              <a:ext uri="{FF2B5EF4-FFF2-40B4-BE49-F238E27FC236}">
                <a16:creationId xmlns:a16="http://schemas.microsoft.com/office/drawing/2014/main" id="{3B705C42-FB31-47D2-B925-169A7A320F3B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78948986" name="Текст 35">
            <a:extLst>
              <a:ext uri="{FF2B5EF4-FFF2-40B4-BE49-F238E27FC236}">
                <a16:creationId xmlns:a16="http://schemas.microsoft.com/office/drawing/2014/main" id="{67948111-2B49-49AA-ADC4-2ED8B0CB0B62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58611594" name="Текст 35">
            <a:extLst>
              <a:ext uri="{FF2B5EF4-FFF2-40B4-BE49-F238E27FC236}">
                <a16:creationId xmlns:a16="http://schemas.microsoft.com/office/drawing/2014/main" id="{14307C24-FB19-40AB-AE13-02583BF8957E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45328777" name="Текст 35">
            <a:extLst>
              <a:ext uri="{FF2B5EF4-FFF2-40B4-BE49-F238E27FC236}">
                <a16:creationId xmlns:a16="http://schemas.microsoft.com/office/drawing/2014/main" id="{9D5BB333-B851-4B45-9C61-825EDBA331AA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0255233" name="Текст 35">
            <a:extLst>
              <a:ext uri="{FF2B5EF4-FFF2-40B4-BE49-F238E27FC236}">
                <a16:creationId xmlns:a16="http://schemas.microsoft.com/office/drawing/2014/main" id="{9DB5C226-8D1C-462E-A69C-F616595E4CD5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00879656" name="Текст 35">
            <a:extLst>
              <a:ext uri="{FF2B5EF4-FFF2-40B4-BE49-F238E27FC236}">
                <a16:creationId xmlns:a16="http://schemas.microsoft.com/office/drawing/2014/main" id="{74D969E4-C8DD-405A-A7D4-EFF762775A93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145624771" name="Google Shape;2799;p94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5624772" name="Google Shape;2799;p94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ln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5624773" name="Google Shape;2799;p94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5624774" name="Google Shape;2799;p94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ln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>
            <a:extLst>
              <a:ext uri="{FF2B5EF4-FFF2-40B4-BE49-F238E27FC236}">
                <a16:creationId xmlns:a16="http://schemas.microsoft.com/office/drawing/2014/main" id="{0B907EFF-CA73-4948-9DD8-767ADA71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18129555" name="Дата 8">
            <a:extLst>
              <a:ext uri="{FF2B5EF4-FFF2-40B4-BE49-F238E27FC236}">
                <a16:creationId xmlns:a16="http://schemas.microsoft.com/office/drawing/2014/main" id="{D597EC11-8FF3-4788-92A5-8D5477DC0125}"/>
              </a:ext>
            </a:extLst>
          </p:cNvPr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pPr>
              <a:buNone/>
            </a:pPr>
            <a:fld id="{9D490EE5-ED7D-46E8-8345-A78A0CB0F4A4}" type="datetime1">
              <a:t>29.09.2026</a:t>
            </a:fld>
            <a:endParaRPr/>
          </a:p>
        </p:txBody>
      </p:sp>
      <p:sp>
        <p:nvSpPr>
          <p:cNvPr id="2139654067" name="Нижний колонтитул 9">
            <a:extLst>
              <a:ext uri="{FF2B5EF4-FFF2-40B4-BE49-F238E27FC236}">
                <a16:creationId xmlns:a16="http://schemas.microsoft.com/office/drawing/2014/main" id="{ABDC9521-E33A-4B88-83A7-AEBC447D217D}"/>
              </a:ext>
            </a:extLst>
          </p:cNvPr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87854632" name="Номер слайда 10">
            <a:extLst>
              <a:ext uri="{FF2B5EF4-FFF2-40B4-BE49-F238E27FC236}">
                <a16:creationId xmlns:a16="http://schemas.microsoft.com/office/drawing/2014/main" id="{3DE0F851-188C-451A-80C6-084904456A20}"/>
              </a:ext>
            </a:extLst>
          </p:cNvPr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>
            <a:extLst>
              <a:ext uri="{FF2B5EF4-FFF2-40B4-BE49-F238E27FC236}">
                <a16:creationId xmlns:a16="http://schemas.microsoft.com/office/drawing/2014/main" id="{47A6C308-501E-453A-B15E-C8EDF760EEBF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>
            <a:extLst>
              <a:ext uri="{FF2B5EF4-FFF2-40B4-BE49-F238E27FC236}">
                <a16:creationId xmlns:a16="http://schemas.microsoft.com/office/drawing/2014/main" id="{82BC2803-FF7E-4028-AF6B-4A325C5BD110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>
            <a:extLst>
              <a:ext uri="{FF2B5EF4-FFF2-40B4-BE49-F238E27FC236}">
                <a16:creationId xmlns:a16="http://schemas.microsoft.com/office/drawing/2014/main" id="{64C65157-0E8A-4AEC-8011-7A366E3AD12B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>
            <a:extLst>
              <a:ext uri="{FF2B5EF4-FFF2-40B4-BE49-F238E27FC236}">
                <a16:creationId xmlns:a16="http://schemas.microsoft.com/office/drawing/2014/main" id="{375693D6-4EED-4E66-A18B-83DE4770C5C7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>
            <a:extLst>
              <a:ext uri="{FF2B5EF4-FFF2-40B4-BE49-F238E27FC236}">
                <a16:creationId xmlns:a16="http://schemas.microsoft.com/office/drawing/2014/main" id="{4BFAC7ED-D877-43A0-8F76-6812F1028E3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C8C16AD-D907-4463-BE30-FCBB33ACAE3F}" type="datetime1">
              <a:t>29.09.2026</a:t>
            </a:fld>
            <a:endParaRPr/>
          </a:p>
        </p:txBody>
      </p:sp>
      <p:sp>
        <p:nvSpPr>
          <p:cNvPr id="792600989" name="Нижний колонтитул 4">
            <a:extLst>
              <a:ext uri="{FF2B5EF4-FFF2-40B4-BE49-F238E27FC236}">
                <a16:creationId xmlns:a16="http://schemas.microsoft.com/office/drawing/2014/main" id="{EA3FB73B-846B-4BB4-89C9-B64112C503B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50504692" name="Номер слайда 5">
            <a:extLst>
              <a:ext uri="{FF2B5EF4-FFF2-40B4-BE49-F238E27FC236}">
                <a16:creationId xmlns:a16="http://schemas.microsoft.com/office/drawing/2014/main" id="{86D53307-CBAF-4575-AF5D-8073497C68D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64420842" name="Текст 7">
            <a:extLst>
              <a:ext uri="{FF2B5EF4-FFF2-40B4-BE49-F238E27FC236}">
                <a16:creationId xmlns:a16="http://schemas.microsoft.com/office/drawing/2014/main" id="{AC4A1FAF-48B8-4A49-AB87-7779641962C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656314850" name="Текст 7">
            <a:extLst>
              <a:ext uri="{FF2B5EF4-FFF2-40B4-BE49-F238E27FC236}">
                <a16:creationId xmlns:a16="http://schemas.microsoft.com/office/drawing/2014/main" id="{2758DABE-9493-487D-85B3-28F35264FEC3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54257058" name="Текст 7">
            <a:extLst>
              <a:ext uri="{FF2B5EF4-FFF2-40B4-BE49-F238E27FC236}">
                <a16:creationId xmlns:a16="http://schemas.microsoft.com/office/drawing/2014/main" id="{B429DFC5-92A7-4406-A3AF-5195A97DBB7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90252769" name="Текст 7">
            <a:extLst>
              <a:ext uri="{FF2B5EF4-FFF2-40B4-BE49-F238E27FC236}">
                <a16:creationId xmlns:a16="http://schemas.microsoft.com/office/drawing/2014/main" id="{8FD6EFDF-F12D-4478-AC23-00190E1D36D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026721607" name="Заголовок 1">
            <a:extLst>
              <a:ext uri="{FF2B5EF4-FFF2-40B4-BE49-F238E27FC236}">
                <a16:creationId xmlns:a16="http://schemas.microsoft.com/office/drawing/2014/main" id="{276A3F53-0A0E-4E4F-ABC2-AA62670A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54183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7254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33193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8711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54037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9842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98805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1299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0908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0288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5014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27288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285933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08606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6578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55929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90975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98250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17638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0506772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56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87591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4039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1717235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34616154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37933687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11623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587418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061075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14414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15963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99380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61045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72124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204232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953140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63628404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12798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63094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0228281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27269568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0825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423571179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440659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924039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243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67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>
            <a:extLst>
              <a:ext uri="{FF2B5EF4-FFF2-40B4-BE49-F238E27FC236}">
                <a16:creationId xmlns:a16="http://schemas.microsoft.com/office/drawing/2014/main" id="{6B7C1492-8D02-4356-90AA-F6664F07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903902632" name="Текст 2">
            <a:extLst>
              <a:ext uri="{FF2B5EF4-FFF2-40B4-BE49-F238E27FC236}">
                <a16:creationId xmlns:a16="http://schemas.microsoft.com/office/drawing/2014/main" id="{C790DE70-66A2-4573-8922-93D2F2FD6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317792352" name="Дата 3">
            <a:extLst>
              <a:ext uri="{FF2B5EF4-FFF2-40B4-BE49-F238E27FC236}">
                <a16:creationId xmlns:a16="http://schemas.microsoft.com/office/drawing/2014/main" id="{3DC03D1F-9D23-494C-A0DB-2EBC20ABC36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D490EE5-ED7D-46E8-8345-A78A0CB0F4A4}" type="datetime1">
              <a:t>29.09.2026</a:t>
            </a:fld>
            <a:endParaRPr/>
          </a:p>
        </p:txBody>
      </p:sp>
      <p:sp>
        <p:nvSpPr>
          <p:cNvPr id="1926070673" name="Нижний колонтитул 4">
            <a:extLst>
              <a:ext uri="{FF2B5EF4-FFF2-40B4-BE49-F238E27FC236}">
                <a16:creationId xmlns:a16="http://schemas.microsoft.com/office/drawing/2014/main" id="{B44793E9-07B3-48CA-A15E-5693D623844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282487685" name="Номер слайда 5">
            <a:extLst>
              <a:ext uri="{FF2B5EF4-FFF2-40B4-BE49-F238E27FC236}">
                <a16:creationId xmlns:a16="http://schemas.microsoft.com/office/drawing/2014/main" id="{F3885968-86E9-48EC-A34E-F0585EE927E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61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522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7679183" cy="1706743"/>
          </a:xfrm>
        </p:spPr>
        <p:txBody>
          <a:bodyPr/>
          <a:lstStyle/>
          <a:p>
            <a:pPr marL="268288" indent="0">
              <a:defRPr/>
            </a:pPr>
            <a:r>
              <a:rPr lang="en-GB" sz="4800" dirty="0"/>
              <a:t>TRYTOBEATMYCODEX</a:t>
            </a:r>
            <a:endParaRPr lang="ru-RU" sz="4800" dirty="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/>
              <a:t>Задача №7</a:t>
            </a:r>
          </a:p>
          <a:p>
            <a:pPr indent="268288"/>
            <a:r>
              <a:rPr lang="ru-RU" dirty="0"/>
              <a:t>Сервис формирования цифрового признака транспортного средства</a:t>
            </a:r>
          </a:p>
          <a:p>
            <a:pPr indent="268288">
              <a:defRPr/>
            </a:pPr>
            <a:endParaRPr lang="ru-RU" dirty="0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1095199" y="-119834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3" name="Image 19" descr=" ">
            <a:extLst>
              <a:ext uri="{FF2B5EF4-FFF2-40B4-BE49-F238E27FC236}">
                <a16:creationId xmlns:a16="http://schemas.microsoft.com/office/drawing/2014/main" id="{10AC5E37-F701-B688-0AA1-E307253E07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154" y="333436"/>
            <a:ext cx="4038282" cy="4153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41E34B-D132-D292-5F6D-28D13BAE9E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5" b="9085"/>
          <a:stretch>
            <a:fillRect/>
          </a:stretch>
        </p:blipFill>
        <p:spPr bwMode="auto">
          <a:xfrm>
            <a:off x="0" y="334963"/>
            <a:ext cx="6456363" cy="2971800"/>
          </a:xfrm>
          <a:prstGeom prst="rect">
            <a:avLst/>
          </a:prstGeo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Краткое описание решения: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1"/>
            <a:ext cx="4945565" cy="10279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Три взаимодополняющих </a:t>
            </a:r>
            <a:r>
              <a:rPr lang="en-US" dirty="0">
                <a:solidFill>
                  <a:schemeClr val="tx1"/>
                </a:solidFill>
              </a:rPr>
              <a:t>backbone, </a:t>
            </a:r>
            <a:r>
              <a:rPr lang="ru-RU" dirty="0">
                <a:solidFill>
                  <a:schemeClr val="tx1"/>
                </a:solidFill>
              </a:rPr>
              <a:t>локальное </a:t>
            </a:r>
            <a:r>
              <a:rPr lang="en-US" dirty="0">
                <a:solidFill>
                  <a:schemeClr val="tx1"/>
                </a:solidFill>
              </a:rPr>
              <a:t>DINO-</a:t>
            </a:r>
            <a:r>
              <a:rPr lang="ru-RU" dirty="0">
                <a:solidFill>
                  <a:schemeClr val="tx1"/>
                </a:solidFill>
              </a:rPr>
              <a:t>сопоставление, </a:t>
            </a:r>
            <a:r>
              <a:rPr lang="en-US" dirty="0">
                <a:solidFill>
                  <a:schemeClr val="tx1"/>
                </a:solidFill>
              </a:rPr>
              <a:t>gallery-only reranking </a:t>
            </a:r>
            <a:r>
              <a:rPr lang="ru-RU" dirty="0">
                <a:solidFill>
                  <a:schemeClr val="tx1"/>
                </a:solidFill>
              </a:rPr>
              <a:t>и отдельно откалиброванный </a:t>
            </a:r>
            <a:r>
              <a:rPr lang="en-US" dirty="0">
                <a:solidFill>
                  <a:schemeClr val="tx1"/>
                </a:solidFill>
              </a:rPr>
              <a:t>open-set </a:t>
            </a:r>
            <a:r>
              <a:rPr lang="ru-RU" dirty="0">
                <a:solidFill>
                  <a:schemeClr val="tx1"/>
                </a:solidFill>
              </a:rPr>
              <a:t>отказ — без </a:t>
            </a:r>
            <a:r>
              <a:rPr lang="en-US" dirty="0">
                <a:solidFill>
                  <a:schemeClr val="tx1"/>
                </a:solidFill>
              </a:rPr>
              <a:t>test camera, query-query </a:t>
            </a:r>
            <a:r>
              <a:rPr lang="ru-RU" dirty="0">
                <a:solidFill>
                  <a:schemeClr val="tx1"/>
                </a:solidFill>
              </a:rPr>
              <a:t>и порядка </a:t>
            </a:r>
            <a:r>
              <a:rPr lang="en-US" dirty="0">
                <a:solidFill>
                  <a:schemeClr val="tx1"/>
                </a:solidFill>
              </a:rPr>
              <a:t>CSV.</a:t>
            </a: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Char char="§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Капитан: </a:t>
            </a:r>
            <a:r>
              <a:rPr lang="ru-RU" kern="0" dirty="0">
                <a:solidFill>
                  <a:srgbClr val="000000"/>
                </a:solidFill>
                <a:latin typeface="Montserrat"/>
                <a:cs typeface="Arial"/>
              </a:rPr>
              <a:t>Захаров Роман, </a:t>
            </a:r>
            <a:r>
              <a:rPr lang="en-GB" kern="0" dirty="0">
                <a:solidFill>
                  <a:srgbClr val="000000"/>
                </a:solidFill>
                <a:latin typeface="Montserrat"/>
                <a:cs typeface="Arial"/>
              </a:rPr>
              <a:t>ML Engineer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Char char="§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Кол-во участников: </a:t>
            </a:r>
            <a:r>
              <a:rPr lang="ru-RU" kern="0" dirty="0">
                <a:solidFill>
                  <a:srgbClr val="000000"/>
                </a:solidFill>
                <a:latin typeface="Montserrat"/>
                <a:cs typeface="Arial"/>
              </a:rPr>
              <a:t>2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 человек</a:t>
            </a:r>
            <a:r>
              <a:rPr lang="ru-RU" kern="0" dirty="0">
                <a:solidFill>
                  <a:srgbClr val="000000"/>
                </a:solidFill>
                <a:latin typeface="Montserrat"/>
                <a:cs typeface="Arial"/>
              </a:rPr>
              <a:t>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Char char="§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Краткое описание: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Clr>
                <a:srgbClr val="FF0053"/>
              </a:buClr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Команда двух друзей с факультета ВМК университета МГУ имени М. В. Ломоносова</a:t>
            </a:r>
            <a:endParaRPr lang="ru-RU" dirty="0"/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Tx/>
              <a:buChar char="-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Город и регион: </a:t>
            </a:r>
            <a:r>
              <a:rPr lang="ru-RU" i="1" dirty="0">
                <a:solidFill>
                  <a:schemeClr val="tx1"/>
                </a:solidFill>
              </a:rPr>
              <a:t>Россия, Москва</a:t>
            </a:r>
            <a:endParaRPr i="1" dirty="0">
              <a:solidFill>
                <a:schemeClr val="tx1"/>
              </a:solidFill>
            </a:endParaRP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О команде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4268307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rgbClr val="520977"/>
                </a:solidFill>
              </a:rPr>
              <a:t>КОМАНДА «</a:t>
            </a:r>
            <a:r>
              <a:rPr lang="en-US" sz="2400" dirty="0">
                <a:solidFill>
                  <a:srgbClr val="520977"/>
                </a:solidFill>
              </a:rPr>
              <a:t>TRYTOBEATMYCODEX»</a:t>
            </a:r>
            <a:endParaRPr lang="ru-RU" sz="2400" dirty="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Уникальность решения: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108622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err="1">
                <a:solidFill>
                  <a:schemeClr val="tx1"/>
                </a:solidFill>
              </a:rPr>
              <a:t>Offline-сервис Vehicle ReID: по кадру и BBox строит цифровой признак. Для mAP формирует top‑10; open-set выход отдельно содержит принятый top‑1 или 0 кандидатов.</a:t>
            </a: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2</a:t>
            </a:r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Инженер/Тестер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rgbClr val="1C1D22"/>
                </a:solidFill>
              </a:rPr>
              <a:t>@PiAlYu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+79104057988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МГУ имени М. В. Ломоносова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Александр Пирогов</a:t>
            </a:r>
            <a:endParaRPr dirty="0"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t>3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5E34B1-D9C1-D80A-EE53-E67426DB66C0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/>
          <a:srcRect t="4931" b="4931"/>
          <a:stretch/>
        </p:blipFill>
        <p:spPr bwMode="auto">
          <a:xfrm>
            <a:off x="581025" y="1816100"/>
            <a:ext cx="1722438" cy="15525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2B8145-ACF4-B444-54A5-6680DEFCB4E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5253" b="5253"/>
          <a:stretch/>
        </p:blipFill>
        <p:spPr bwMode="auto">
          <a:xfrm>
            <a:off x="2886075" y="1827213"/>
            <a:ext cx="1722438" cy="1541462"/>
          </a:xfrm>
          <a:prstGeom prst="rect">
            <a:avLst/>
          </a:prstGeo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346075" y="446952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sz="1600" dirty="0"/>
              <a:t>КОМАНДА «</a:t>
            </a:r>
            <a:r>
              <a:rPr lang="en-US" sz="1600" dirty="0"/>
              <a:t>TRYTOBEATMYCODEX»</a:t>
            </a:r>
            <a:endParaRPr lang="ru-RU" sz="1600" dirty="0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Капитан, </a:t>
            </a:r>
            <a:r>
              <a:rPr lang="en-GB" sz="1200" dirty="0">
                <a:solidFill>
                  <a:schemeClr val="tx1"/>
                </a:solidFill>
              </a:rPr>
              <a:t>ML/</a:t>
            </a:r>
            <a:r>
              <a:rPr lang="en-GB" sz="1200" dirty="0" err="1">
                <a:solidFill>
                  <a:schemeClr val="tx1"/>
                </a:solidFill>
              </a:rPr>
              <a:t>RnD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@TneFool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+79175134905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МГУ имени М. В. Ломоносова</a:t>
            </a:r>
            <a:endParaRPr dirty="0"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Роман Захаров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4</a:t>
            </a:r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346075" y="474130"/>
            <a:ext cx="9862734" cy="347577"/>
          </a:xfrm>
        </p:spPr>
        <p:txBody>
          <a:bodyPr/>
          <a:lstStyle/>
          <a:p>
            <a:pPr>
              <a:defRPr/>
            </a:pPr>
            <a:r>
              <a:rPr lang="ru-RU" sz="1600" dirty="0"/>
              <a:t>КОМАНДА «</a:t>
            </a:r>
            <a:r>
              <a:rPr lang="en-US" sz="1600" dirty="0"/>
              <a:t>TRYTOBEATMYCODEX»</a:t>
            </a:r>
            <a:endParaRPr lang="ru-RU" sz="1600" dirty="0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Участвовали в ЛЦТ Хакатоне 2025 и прошли в финал, но призовое место не заняли. Решили попробовать ещё раз в этом году</a:t>
            </a:r>
            <a:endParaRPr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Краткая история команды: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Резкая смена ракурса и света; </a:t>
            </a:r>
            <a:r>
              <a:rPr lang="en-US" dirty="0">
                <a:solidFill>
                  <a:schemeClr val="tx1"/>
                </a:solidFill>
              </a:rPr>
              <a:t>same-camera junk </a:t>
            </a:r>
            <a:r>
              <a:rPr lang="ru-RU" dirty="0">
                <a:solidFill>
                  <a:schemeClr val="tx1"/>
                </a:solidFill>
              </a:rPr>
              <a:t>в метрике; похожие комплектации; высокая корреляция признаков</a:t>
            </a:r>
            <a:r>
              <a:rPr lang="en-US" dirty="0">
                <a:solidFill>
                  <a:schemeClr val="tx1"/>
                </a:solidFill>
              </a:rPr>
              <a:t>; </a:t>
            </a:r>
            <a:r>
              <a:rPr lang="ru-RU" dirty="0">
                <a:solidFill>
                  <a:schemeClr val="tx1"/>
                </a:solidFill>
              </a:rPr>
              <a:t>ограничения </a:t>
            </a:r>
            <a:r>
              <a:rPr lang="en-US" dirty="0">
                <a:solidFill>
                  <a:schemeClr val="tx1"/>
                </a:solidFill>
              </a:rPr>
              <a:t>latency </a:t>
            </a:r>
            <a:r>
              <a:rPr lang="ru-RU" dirty="0">
                <a:solidFill>
                  <a:schemeClr val="tx1"/>
                </a:solidFill>
              </a:rPr>
              <a:t>и 2 </a:t>
            </a:r>
            <a:r>
              <a:rPr lang="en-US" dirty="0">
                <a:solidFill>
                  <a:schemeClr val="tx1"/>
                </a:solidFill>
              </a:rPr>
              <a:t>GB. </a:t>
            </a:r>
            <a:r>
              <a:rPr lang="ru-RU" dirty="0">
                <a:solidFill>
                  <a:schemeClr val="tx1"/>
                </a:solidFill>
              </a:rPr>
              <a:t>Решение: три независимых признака, </a:t>
            </a:r>
            <a:r>
              <a:rPr lang="en-US" dirty="0">
                <a:solidFill>
                  <a:schemeClr val="tx1"/>
                </a:solidFill>
              </a:rPr>
              <a:t>local patch matching, </a:t>
            </a:r>
            <a:r>
              <a:rPr lang="ru-RU" dirty="0">
                <a:solidFill>
                  <a:schemeClr val="tx1"/>
                </a:solidFill>
              </a:rPr>
              <a:t>честная </a:t>
            </a:r>
            <a:r>
              <a:rPr lang="en-US" dirty="0">
                <a:solidFill>
                  <a:schemeClr val="tx1"/>
                </a:solidFill>
              </a:rPr>
              <a:t>cross-camera validation </a:t>
            </a:r>
            <a:r>
              <a:rPr lang="ru-RU" dirty="0">
                <a:solidFill>
                  <a:schemeClr val="tx1"/>
                </a:solidFill>
              </a:rPr>
              <a:t>и отдельная калибровка отказа.</a:t>
            </a: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1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С какими основными сложностями или вызовами </a:t>
            </a:r>
            <a:b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</a:b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вы столкнулись и как их преодолели?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Задача соединяет исследовательскую сложность </a:t>
            </a:r>
            <a:r>
              <a:rPr lang="ru-RU" dirty="0" err="1">
                <a:solidFill>
                  <a:schemeClr val="tx1"/>
                </a:solidFill>
              </a:rPr>
              <a:t>cross-view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ReID</a:t>
            </a:r>
            <a:r>
              <a:rPr lang="ru-RU" dirty="0">
                <a:solidFill>
                  <a:schemeClr val="tx1"/>
                </a:solidFill>
              </a:rPr>
              <a:t> с понятным бизнес-эффектом: оператору нужен не «похожий тип», а тот же физический автомобиль без опоры на номер.</a:t>
            </a: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Почему вы выбрали именно эту задачу </a:t>
            </a:r>
            <a:b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</a:b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из предложенных на хакатоне?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01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03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>
            <a:extLst>
              <a:ext uri="{FF2B5EF4-FFF2-40B4-BE49-F238E27FC236}">
                <a16:creationId xmlns:a16="http://schemas.microsoft.com/office/drawing/2014/main" id="{FDDDA550-6A51-46D3-ABC7-FAC620E28971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2449051" name="Скругленный прямоугольник 23">
            <a:extLst>
              <a:ext uri="{FF2B5EF4-FFF2-40B4-BE49-F238E27FC236}">
                <a16:creationId xmlns:a16="http://schemas.microsoft.com/office/drawing/2014/main" id="{F334D41B-8629-483A-AA85-2F396FFA0939}"/>
              </a:ext>
            </a:extLst>
          </p:cNvPr>
          <p:cNvSpPr>
            <a:spLocks noGrp="1"/>
          </p:cNvSpPr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393046190" name="Скругленный прямоугольник 26">
            <a:extLst>
              <a:ext uri="{FF2B5EF4-FFF2-40B4-BE49-F238E27FC236}">
                <a16:creationId xmlns:a16="http://schemas.microsoft.com/office/drawing/2014/main" id="{65B2C8B7-6E1E-4991-B2B0-B32839F40AE6}"/>
              </a:ext>
            </a:extLst>
          </p:cNvPr>
          <p:cNvSpPr>
            <a:spLocks noGrp="1"/>
          </p:cNvSpPr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727018758" name="Номер слайда 20">
            <a:extLst>
              <a:ext uri="{FF2B5EF4-FFF2-40B4-BE49-F238E27FC236}">
                <a16:creationId xmlns:a16="http://schemas.microsoft.com/office/drawing/2014/main" id="{3978B24F-F7E6-4C4B-B2EB-65BF2D10DCE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5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782181813" name="Текст 2">
            <a:extLst>
              <a:ext uri="{FF2B5EF4-FFF2-40B4-BE49-F238E27FC236}">
                <a16:creationId xmlns:a16="http://schemas.microsoft.com/office/drawing/2014/main" id="{5D741FD8-8DC0-4395-A1BB-5E5AE55E378C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sz="1400">
                <a:solidFill>
                  <a:srgbClr val="2D1451"/>
                </a:solidFill>
              </a:rPr>
              <a:t>• Shared crop и пятизонный HSV.</a:t>
            </a:r>
          </a:p>
          <a:p>
            <a:pPr>
              <a:buNone/>
            </a:pPr>
            <a:r>
              <a:rPr sz="1400">
                <a:solidFill>
                  <a:srgbClr val="2D1451"/>
                </a:solidFill>
              </a:rPr>
              <a:t>• TorchScript OSNet + DINOv2 B/14 + ConvNeXt‑Tiny.</a:t>
            </a:r>
          </a:p>
          <a:p>
            <a:pPr>
              <a:buNone/>
            </a:pPr>
            <a:r>
              <a:rPr sz="1400">
                <a:solidFill>
                  <a:srgbClr val="2D1451"/>
                </a:solidFill>
              </a:rPr>
              <a:t>• Cosine retrieval → top‑50/top‑25 pair/token reranking, LambdaRank и family GNN.</a:t>
            </a:r>
          </a:p>
          <a:p>
            <a:pPr>
              <a:buNone/>
            </a:pPr>
            <a:r>
              <a:rPr sz="1400">
                <a:solidFill>
                  <a:srgbClr val="2D1451"/>
                </a:solidFill>
              </a:rPr>
              <a:t>• Logistic policy пишет принятый top‑1 либо не создаёт строку query в candidates.csv.</a:t>
            </a:r>
          </a:p>
          <a:p>
            <a:pPr>
              <a:buNone/>
            </a:pPr>
            <a:r>
              <a:rPr sz="1400">
                <a:solidFill>
                  <a:srgbClr val="2D1451"/>
                </a:solidFill>
              </a:rPr>
              <a:t>• Offline Docker; нет query-query, test camera и CSV-order.</a:t>
            </a:r>
          </a:p>
        </p:txBody>
      </p:sp>
      <p:sp>
        <p:nvSpPr>
          <p:cNvPr id="321655550" name="Текст 6">
            <a:extLst>
              <a:ext uri="{FF2B5EF4-FFF2-40B4-BE49-F238E27FC236}">
                <a16:creationId xmlns:a16="http://schemas.microsoft.com/office/drawing/2014/main" id="{F942A241-C1F3-4825-8029-FA771BF0FC31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1400" dirty="0">
                <a:solidFill>
                  <a:srgbClr val="2D1451"/>
                </a:solidFill>
              </a:rPr>
              <a:t>•  Поиск автомобиля без опоры на госномер</a:t>
            </a:r>
          </a:p>
          <a:p>
            <a:pPr>
              <a:buNone/>
            </a:pPr>
            <a:r>
              <a:rPr sz="1400" dirty="0">
                <a:solidFill>
                  <a:srgbClr val="2D1451"/>
                </a:solidFill>
              </a:rPr>
              <a:t>• Для аудита строится top‑10; рабочий режим выдаёт принятый top‑1 либо 0 кандидатов.</a:t>
            </a:r>
          </a:p>
          <a:p>
            <a:pPr marL="0" indent="0">
              <a:buNone/>
            </a:pPr>
            <a:r>
              <a:rPr dirty="0">
                <a:solidFill>
                  <a:srgbClr val="2D1451"/>
                </a:solidFill>
              </a:rPr>
              <a:t>• </a:t>
            </a:r>
            <a:r>
              <a:rPr dirty="0" err="1">
                <a:solidFill>
                  <a:srgbClr val="2D1451"/>
                </a:solidFill>
              </a:rPr>
              <a:t>Ненадёжный</a:t>
            </a:r>
            <a:r>
              <a:rPr dirty="0">
                <a:solidFill>
                  <a:srgbClr val="2D1451"/>
                </a:solidFill>
              </a:rPr>
              <a:t> top‑1 </a:t>
            </a:r>
            <a:r>
              <a:rPr dirty="0" err="1">
                <a:solidFill>
                  <a:srgbClr val="2D1451"/>
                </a:solidFill>
              </a:rPr>
              <a:t>не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навязывается</a:t>
            </a:r>
            <a:r>
              <a:rPr dirty="0">
                <a:solidFill>
                  <a:srgbClr val="2D1451"/>
                </a:solidFill>
              </a:rPr>
              <a:t>: </a:t>
            </a:r>
            <a:r>
              <a:rPr dirty="0" err="1">
                <a:solidFill>
                  <a:srgbClr val="2D1451"/>
                </a:solidFill>
              </a:rPr>
              <a:t>сервис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умеет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отказать</a:t>
            </a:r>
            <a:r>
              <a:rPr dirty="0">
                <a:solidFill>
                  <a:srgbClr val="2D1451"/>
                </a:solidFill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rgbClr val="2D1451"/>
                </a:solidFill>
              </a:rPr>
              <a:t>• Текущий exact-поиск масштабируется через FAISS IVF/PQ по отдельному плану для большой gallery.</a:t>
            </a:r>
          </a:p>
          <a:p>
            <a:pPr marL="0" indent="0">
              <a:buNone/>
            </a:pPr>
            <a:r>
              <a:rPr dirty="0">
                <a:solidFill>
                  <a:srgbClr val="2D1451"/>
                </a:solidFill>
              </a:rPr>
              <a:t>• </a:t>
            </a:r>
            <a:r>
              <a:rPr dirty="0" err="1">
                <a:solidFill>
                  <a:srgbClr val="2D1451"/>
                </a:solidFill>
              </a:rPr>
              <a:t>Проверяемые</a:t>
            </a:r>
            <a:r>
              <a:rPr dirty="0">
                <a:solidFill>
                  <a:srgbClr val="2D1451"/>
                </a:solidFill>
              </a:rPr>
              <a:t> CSV/NPY/manifest и desktop-</a:t>
            </a:r>
            <a:r>
              <a:rPr dirty="0" err="1">
                <a:solidFill>
                  <a:srgbClr val="2D1451"/>
                </a:solidFill>
              </a:rPr>
              <a:t>интерфейс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упрощают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внедрение</a:t>
            </a:r>
            <a:r>
              <a:rPr dirty="0">
                <a:solidFill>
                  <a:srgbClr val="2D1451"/>
                </a:solidFill>
              </a:rPr>
              <a:t> и </a:t>
            </a:r>
            <a:r>
              <a:rPr dirty="0" err="1">
                <a:solidFill>
                  <a:srgbClr val="2D1451"/>
                </a:solidFill>
              </a:rPr>
              <a:t>аудит</a:t>
            </a:r>
            <a:r>
              <a:rPr dirty="0">
                <a:solidFill>
                  <a:srgbClr val="2D1451"/>
                </a:solidFill>
              </a:rPr>
              <a:t>.</a:t>
            </a:r>
          </a:p>
        </p:txBody>
      </p:sp>
      <p:sp>
        <p:nvSpPr>
          <p:cNvPr id="607500153" name="Заголовок 13">
            <a:extLst>
              <a:ext uri="{FF2B5EF4-FFF2-40B4-BE49-F238E27FC236}">
                <a16:creationId xmlns:a16="http://schemas.microsoft.com/office/drawing/2014/main" id="{65DF6DDE-EC0F-4848-AF9E-171752F0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t>КОРОТКО О РЕШЕНИИ</a:t>
            </a:r>
          </a:p>
        </p:txBody>
      </p:sp>
      <p:sp>
        <p:nvSpPr>
          <p:cNvPr id="2139836321" name="Текст 14">
            <a:extLst>
              <a:ext uri="{FF2B5EF4-FFF2-40B4-BE49-F238E27FC236}">
                <a16:creationId xmlns:a16="http://schemas.microsoft.com/office/drawing/2014/main" id="{5835AD22-26C2-4389-BAA3-683BEB220695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78063" y="1476583"/>
            <a:ext cx="4929861" cy="5551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878253783" name="Текст 16">
            <a:extLst>
              <a:ext uri="{FF2B5EF4-FFF2-40B4-BE49-F238E27FC236}">
                <a16:creationId xmlns:a16="http://schemas.microsoft.com/office/drawing/2014/main" id="{285AB6A7-B089-480D-881B-3E2E0B4E46AC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513513" y="1476583"/>
            <a:ext cx="5214724" cy="56151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000" b="1" dirty="0" err="1">
                <a:solidFill>
                  <a:schemeClr val="accent5"/>
                </a:solidFill>
              </a:rPr>
              <a:t>Маркетинговая</a:t>
            </a:r>
            <a:r>
              <a:rPr sz="2000" b="1" dirty="0">
                <a:solidFill>
                  <a:schemeClr val="accent5"/>
                </a:solidFill>
              </a:rPr>
              <a:t> </a:t>
            </a:r>
            <a:r>
              <a:rPr sz="2000" b="1" dirty="0" err="1">
                <a:solidFill>
                  <a:schemeClr val="accent5"/>
                </a:solidFill>
              </a:rPr>
              <a:t>суть</a:t>
            </a:r>
            <a:r>
              <a:rPr sz="2000" b="1" dirty="0">
                <a:solidFill>
                  <a:schemeClr val="accent5"/>
                </a:solidFill>
              </a:rPr>
              <a:t> </a:t>
            </a:r>
            <a:r>
              <a:rPr sz="2000" b="1" dirty="0" err="1">
                <a:solidFill>
                  <a:schemeClr val="accent5"/>
                </a:solidFill>
              </a:rPr>
              <a:t>решения</a:t>
            </a:r>
            <a:endParaRPr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904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>
            <a:extLst>
              <a:ext uri="{FF2B5EF4-FFF2-40B4-BE49-F238E27FC236}">
                <a16:creationId xmlns:a16="http://schemas.microsoft.com/office/drawing/2014/main" id="{93B85D2D-81AA-4C08-BBD9-2EC0AC90545D}"/>
              </a:ext>
            </a:extLst>
          </p:cNvPr>
          <p:cNvSpPr>
            <a:spLocks noGrp="1"/>
          </p:cNvSpPr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295246643" name="Скругленный прямоугольник 9">
            <a:extLst>
              <a:ext uri="{FF2B5EF4-FFF2-40B4-BE49-F238E27FC236}">
                <a16:creationId xmlns:a16="http://schemas.microsoft.com/office/drawing/2014/main" id="{57B7FEF8-05AF-400C-93EA-F6C052E1F675}"/>
              </a:ext>
            </a:extLst>
          </p:cNvPr>
          <p:cNvSpPr>
            <a:spLocks noGrp="1"/>
          </p:cNvSpPr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66709802" name="Скругленный прямоугольник 10">
            <a:extLst>
              <a:ext uri="{FF2B5EF4-FFF2-40B4-BE49-F238E27FC236}">
                <a16:creationId xmlns:a16="http://schemas.microsoft.com/office/drawing/2014/main" id="{058A39A5-3A38-4996-B1B8-DEC3C3F65F06}"/>
              </a:ext>
            </a:extLst>
          </p:cNvPr>
          <p:cNvSpPr>
            <a:spLocks noGrp="1"/>
          </p:cNvSpPr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3486554" name="Скругленный прямоугольник 1">
            <a:extLst>
              <a:ext uri="{FF2B5EF4-FFF2-40B4-BE49-F238E27FC236}">
                <a16:creationId xmlns:a16="http://schemas.microsoft.com/office/drawing/2014/main" id="{6ECB9BA9-37C2-40B4-998F-A3D8A64A66B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9171090" name="Скругленный прямоугольник 16">
            <a:extLst>
              <a:ext uri="{FF2B5EF4-FFF2-40B4-BE49-F238E27FC236}">
                <a16:creationId xmlns:a16="http://schemas.microsoft.com/office/drawing/2014/main" id="{91BAA042-4E92-491D-BB50-A95FE325E8B5}"/>
              </a:ext>
            </a:extLst>
          </p:cNvPr>
          <p:cNvSpPr>
            <a:spLocks noGrp="1"/>
          </p:cNvSpPr>
          <p:nvPr/>
        </p:nvSpPr>
        <p:spPr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64567495" name="Скругленный прямоугольник 6">
            <a:extLst>
              <a:ext uri="{FF2B5EF4-FFF2-40B4-BE49-F238E27FC236}">
                <a16:creationId xmlns:a16="http://schemas.microsoft.com/office/drawing/2014/main" id="{4CF04BDE-BAFB-4D10-B1C1-3749C0994697}"/>
              </a:ext>
            </a:extLst>
          </p:cNvPr>
          <p:cNvSpPr>
            <a:spLocks noGrp="1"/>
          </p:cNvSpPr>
          <p:nvPr/>
        </p:nvSpPr>
        <p:spPr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828869434" name="Номер слайда 5">
            <a:extLst>
              <a:ext uri="{FF2B5EF4-FFF2-40B4-BE49-F238E27FC236}">
                <a16:creationId xmlns:a16="http://schemas.microsoft.com/office/drawing/2014/main" id="{4D4493D6-1173-486F-B2F7-E0DFB17C3DC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6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30935763" name="Текст 2">
            <a:extLst>
              <a:ext uri="{FF2B5EF4-FFF2-40B4-BE49-F238E27FC236}">
                <a16:creationId xmlns:a16="http://schemas.microsoft.com/office/drawing/2014/main" id="{2D27E6E4-FD9B-4F9C-9197-80A35FB00A9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OSNet</a:t>
            </a:r>
          </a:p>
          <a:p>
            <a:pPr>
              <a:buNone/>
            </a:pPr>
            <a:r>
              <a:rPr>
                <a:solidFill>
                  <a:srgbClr val="2D1451"/>
                </a:solidFill>
              </a:rPr>
              <a:t>Специализированный ReID-сигнал: identity, metric и part descriptors. Лучше держит индивидуальные детали конкретного ТС.</a:t>
            </a:r>
          </a:p>
        </p:txBody>
      </p:sp>
      <p:sp>
        <p:nvSpPr>
          <p:cNvPr id="1021543870" name="Текст 3">
            <a:extLst>
              <a:ext uri="{FF2B5EF4-FFF2-40B4-BE49-F238E27FC236}">
                <a16:creationId xmlns:a16="http://schemas.microsoft.com/office/drawing/2014/main" id="{0B821ABF-0EB3-49ED-9B1A-E1DC6A47602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DINOv2 ViT‑B/14</a:t>
            </a:r>
          </a:p>
          <a:p>
            <a:pPr>
              <a:buNone/>
            </a:pPr>
            <a:r>
              <a:rPr>
                <a:solidFill>
                  <a:srgbClr val="2D1451"/>
                </a:solidFill>
              </a:rPr>
              <a:t>CLS, регионы и patch tokens. Даёт устойчивое обобщение и локальное сопоставление при смене ракурса.</a:t>
            </a:r>
          </a:p>
        </p:txBody>
      </p:sp>
      <p:sp>
        <p:nvSpPr>
          <p:cNvPr id="1109396534" name="Текст 4">
            <a:extLst>
              <a:ext uri="{FF2B5EF4-FFF2-40B4-BE49-F238E27FC236}">
                <a16:creationId xmlns:a16="http://schemas.microsoft.com/office/drawing/2014/main" id="{77AEB803-DFB3-4F78-AEF5-B18A2C44926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ConvNeXt‑Tiny</a:t>
            </a:r>
          </a:p>
          <a:p>
            <a:pPr>
              <a:buNone/>
            </a:pPr>
            <a:r>
              <a:rPr>
                <a:solidFill>
                  <a:srgbClr val="2D1451"/>
                </a:solidFill>
              </a:rPr>
              <a:t>Независимый CNN-сигнал: глобальная форма и локальные части. Снижает корреляцию ошибок ансамбля.</a:t>
            </a:r>
          </a:p>
        </p:txBody>
      </p:sp>
      <p:cxnSp>
        <p:nvCxnSpPr>
          <p:cNvPr id="1957439456" name="Google Shape;2799;p94"/>
          <p:cNvCxnSpPr/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2830;p94">
            <a:extLst>
              <a:ext uri="{FF2B5EF4-FFF2-40B4-BE49-F238E27FC236}">
                <a16:creationId xmlns:a16="http://schemas.microsoft.com/office/drawing/2014/main" id="{3ADC22A0-C771-4687-AB82-BB60181320A5}"/>
              </a:ext>
            </a:extLst>
          </p:cNvPr>
          <p:cNvSpPr>
            <a:spLocks noGrp="1"/>
          </p:cNvSpPr>
          <p:nvPr/>
        </p:nvSpPr>
        <p:spPr>
          <a:xfrm>
            <a:off x="1899087" y="1753233"/>
            <a:ext cx="738530" cy="687909"/>
          </a:xfrm>
          <a:custGeom>
            <a:avLst/>
            <a:gdLst/>
            <a:ahLst/>
            <a:cxnLst/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2831;p94">
            <a:extLst>
              <a:ext uri="{FF2B5EF4-FFF2-40B4-BE49-F238E27FC236}">
                <a16:creationId xmlns:a16="http://schemas.microsoft.com/office/drawing/2014/main" id="{501922AB-D0F7-4BBD-B68C-41017F543368}"/>
              </a:ext>
            </a:extLst>
          </p:cNvPr>
          <p:cNvSpPr>
            <a:spLocks noGrp="1"/>
          </p:cNvSpPr>
          <p:nvPr/>
        </p:nvSpPr>
        <p:spPr>
          <a:xfrm>
            <a:off x="1975553" y="1888385"/>
            <a:ext cx="311114" cy="244088"/>
          </a:xfrm>
          <a:custGeom>
            <a:avLst/>
            <a:gdLst/>
            <a:ahLst/>
            <a:cxnLst/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2832;p94">
            <a:extLst>
              <a:ext uri="{FF2B5EF4-FFF2-40B4-BE49-F238E27FC236}">
                <a16:creationId xmlns:a16="http://schemas.microsoft.com/office/drawing/2014/main" id="{196703E8-4C4B-4CDA-A776-AACC8CC34C87}"/>
              </a:ext>
            </a:extLst>
          </p:cNvPr>
          <p:cNvSpPr>
            <a:spLocks noGrp="1"/>
          </p:cNvSpPr>
          <p:nvPr/>
        </p:nvSpPr>
        <p:spPr>
          <a:xfrm>
            <a:off x="2041586" y="1938446"/>
            <a:ext cx="20941" cy="30065"/>
          </a:xfrm>
          <a:custGeom>
            <a:avLst/>
            <a:gdLst/>
            <a:ahLst/>
            <a:cxnLst/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2833;p94">
            <a:extLst>
              <a:ext uri="{FF2B5EF4-FFF2-40B4-BE49-F238E27FC236}">
                <a16:creationId xmlns:a16="http://schemas.microsoft.com/office/drawing/2014/main" id="{55FEFCB9-B950-4E6D-A26D-5CAA695B31AD}"/>
              </a:ext>
            </a:extLst>
          </p:cNvPr>
          <p:cNvSpPr>
            <a:spLocks noGrp="1"/>
          </p:cNvSpPr>
          <p:nvPr/>
        </p:nvSpPr>
        <p:spPr>
          <a:xfrm>
            <a:off x="2147601" y="1908454"/>
            <a:ext cx="22617" cy="30065"/>
          </a:xfrm>
          <a:custGeom>
            <a:avLst/>
            <a:gdLst/>
            <a:ahLst/>
            <a:cxnLst/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2834;p94">
            <a:extLst>
              <a:ext uri="{FF2B5EF4-FFF2-40B4-BE49-F238E27FC236}">
                <a16:creationId xmlns:a16="http://schemas.microsoft.com/office/drawing/2014/main" id="{7744B76A-7E2F-4647-AFE0-2BE9E0BEAC8C}"/>
              </a:ext>
            </a:extLst>
          </p:cNvPr>
          <p:cNvSpPr>
            <a:spLocks noGrp="1"/>
          </p:cNvSpPr>
          <p:nvPr/>
        </p:nvSpPr>
        <p:spPr>
          <a:xfrm>
            <a:off x="2248363" y="1843211"/>
            <a:ext cx="22691" cy="30065"/>
          </a:xfrm>
          <a:custGeom>
            <a:avLst/>
            <a:gdLst/>
            <a:ahLst/>
            <a:cxnLst/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2835;p94">
            <a:extLst>
              <a:ext uri="{FF2B5EF4-FFF2-40B4-BE49-F238E27FC236}">
                <a16:creationId xmlns:a16="http://schemas.microsoft.com/office/drawing/2014/main" id="{B47F7931-0525-4A4A-A688-A97F9D9A73C6}"/>
              </a:ext>
            </a:extLst>
          </p:cNvPr>
          <p:cNvSpPr>
            <a:spLocks noGrp="1"/>
          </p:cNvSpPr>
          <p:nvPr/>
        </p:nvSpPr>
        <p:spPr>
          <a:xfrm>
            <a:off x="1975553" y="1811440"/>
            <a:ext cx="59172" cy="21254"/>
          </a:xfrm>
          <a:custGeom>
            <a:avLst/>
            <a:gdLst/>
            <a:ahLst/>
            <a:cxnLst/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2836;p94">
            <a:extLst>
              <a:ext uri="{FF2B5EF4-FFF2-40B4-BE49-F238E27FC236}">
                <a16:creationId xmlns:a16="http://schemas.microsoft.com/office/drawing/2014/main" id="{A22304E9-8CB9-45F4-9FEA-19CA267AF650}"/>
              </a:ext>
            </a:extLst>
          </p:cNvPr>
          <p:cNvSpPr>
            <a:spLocks noGrp="1"/>
          </p:cNvSpPr>
          <p:nvPr/>
        </p:nvSpPr>
        <p:spPr>
          <a:xfrm>
            <a:off x="1975553" y="1852022"/>
            <a:ext cx="102586" cy="23030"/>
          </a:xfrm>
          <a:custGeom>
            <a:avLst/>
            <a:gdLst/>
            <a:ahLst/>
            <a:cxnLst/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2837;p94">
            <a:extLst>
              <a:ext uri="{FF2B5EF4-FFF2-40B4-BE49-F238E27FC236}">
                <a16:creationId xmlns:a16="http://schemas.microsoft.com/office/drawing/2014/main" id="{63E24310-775D-41A9-9D72-4EE6F8DE7104}"/>
              </a:ext>
            </a:extLst>
          </p:cNvPr>
          <p:cNvSpPr>
            <a:spLocks noGrp="1"/>
          </p:cNvSpPr>
          <p:nvPr/>
        </p:nvSpPr>
        <p:spPr>
          <a:xfrm>
            <a:off x="2451638" y="1846765"/>
            <a:ext cx="67855" cy="116416"/>
          </a:xfrm>
          <a:custGeom>
            <a:avLst/>
            <a:gdLst/>
            <a:ahLst/>
            <a:cxnLst/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2838;p94">
            <a:extLst>
              <a:ext uri="{FF2B5EF4-FFF2-40B4-BE49-F238E27FC236}">
                <a16:creationId xmlns:a16="http://schemas.microsoft.com/office/drawing/2014/main" id="{1CDDB715-7B95-462C-9967-13D266FAAD8E}"/>
              </a:ext>
            </a:extLst>
          </p:cNvPr>
          <p:cNvSpPr>
            <a:spLocks noGrp="1"/>
          </p:cNvSpPr>
          <p:nvPr/>
        </p:nvSpPr>
        <p:spPr>
          <a:xfrm>
            <a:off x="2394289" y="1811440"/>
            <a:ext cx="182552" cy="185289"/>
          </a:xfrm>
          <a:custGeom>
            <a:avLst/>
            <a:gdLst/>
            <a:ahLst/>
            <a:cxnLst/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2839;p94">
            <a:extLst>
              <a:ext uri="{FF2B5EF4-FFF2-40B4-BE49-F238E27FC236}">
                <a16:creationId xmlns:a16="http://schemas.microsoft.com/office/drawing/2014/main" id="{A70DD2A2-0340-45FA-8CF8-DF2336D71EAC}"/>
              </a:ext>
            </a:extLst>
          </p:cNvPr>
          <p:cNvSpPr>
            <a:spLocks noGrp="1"/>
          </p:cNvSpPr>
          <p:nvPr/>
        </p:nvSpPr>
        <p:spPr>
          <a:xfrm>
            <a:off x="2385607" y="2023092"/>
            <a:ext cx="99157" cy="23030"/>
          </a:xfrm>
          <a:custGeom>
            <a:avLst/>
            <a:gdLst/>
            <a:ahLst/>
            <a:cxnLst/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2840;p94">
            <a:extLst>
              <a:ext uri="{FF2B5EF4-FFF2-40B4-BE49-F238E27FC236}">
                <a16:creationId xmlns:a16="http://schemas.microsoft.com/office/drawing/2014/main" id="{1586897E-C8DB-4D8D-A6FC-CC336C6E5C38}"/>
              </a:ext>
            </a:extLst>
          </p:cNvPr>
          <p:cNvSpPr>
            <a:spLocks noGrp="1"/>
          </p:cNvSpPr>
          <p:nvPr/>
        </p:nvSpPr>
        <p:spPr>
          <a:xfrm>
            <a:off x="2519422" y="2067156"/>
            <a:ext cx="55670" cy="21254"/>
          </a:xfrm>
          <a:custGeom>
            <a:avLst/>
            <a:gdLst/>
            <a:ahLst/>
            <a:cxnLst/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2841;p94">
            <a:extLst>
              <a:ext uri="{FF2B5EF4-FFF2-40B4-BE49-F238E27FC236}">
                <a16:creationId xmlns:a16="http://schemas.microsoft.com/office/drawing/2014/main" id="{FFC49C6E-C848-4646-951F-A04CB5065129}"/>
              </a:ext>
            </a:extLst>
          </p:cNvPr>
          <p:cNvSpPr>
            <a:spLocks noGrp="1"/>
          </p:cNvSpPr>
          <p:nvPr/>
        </p:nvSpPr>
        <p:spPr>
          <a:xfrm>
            <a:off x="2385607" y="2067156"/>
            <a:ext cx="62675" cy="21254"/>
          </a:xfrm>
          <a:custGeom>
            <a:avLst/>
            <a:gdLst/>
            <a:ahLst/>
            <a:cxnLst/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2842;p94">
            <a:extLst>
              <a:ext uri="{FF2B5EF4-FFF2-40B4-BE49-F238E27FC236}">
                <a16:creationId xmlns:a16="http://schemas.microsoft.com/office/drawing/2014/main" id="{E0A6ABB4-1A4E-4C40-94DD-ABFCC867C194}"/>
              </a:ext>
            </a:extLst>
          </p:cNvPr>
          <p:cNvSpPr>
            <a:spLocks noGrp="1"/>
          </p:cNvSpPr>
          <p:nvPr/>
        </p:nvSpPr>
        <p:spPr>
          <a:xfrm>
            <a:off x="2463823" y="2067156"/>
            <a:ext cx="41806" cy="21254"/>
          </a:xfrm>
          <a:custGeom>
            <a:avLst/>
            <a:gdLst/>
            <a:ahLst/>
            <a:cxnLst/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2843;p94">
            <a:extLst>
              <a:ext uri="{FF2B5EF4-FFF2-40B4-BE49-F238E27FC236}">
                <a16:creationId xmlns:a16="http://schemas.microsoft.com/office/drawing/2014/main" id="{CD473C5C-0B88-480E-A2D4-0D32BB0F4424}"/>
              </a:ext>
            </a:extLst>
          </p:cNvPr>
          <p:cNvSpPr>
            <a:spLocks noGrp="1"/>
          </p:cNvSpPr>
          <p:nvPr/>
        </p:nvSpPr>
        <p:spPr>
          <a:xfrm>
            <a:off x="2385607" y="2109516"/>
            <a:ext cx="187734" cy="22957"/>
          </a:xfrm>
          <a:custGeom>
            <a:avLst/>
            <a:gdLst/>
            <a:ahLst/>
            <a:cxnLst/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2819;p94">
            <a:extLst>
              <a:ext uri="{FF2B5EF4-FFF2-40B4-BE49-F238E27FC236}">
                <a16:creationId xmlns:a16="http://schemas.microsoft.com/office/drawing/2014/main" id="{52E5E9FB-5D6C-452D-9239-4E6C5C313AD2}"/>
              </a:ext>
            </a:extLst>
          </p:cNvPr>
          <p:cNvSpPr>
            <a:spLocks noGrp="1"/>
          </p:cNvSpPr>
          <p:nvPr/>
        </p:nvSpPr>
        <p:spPr>
          <a:xfrm>
            <a:off x="6120541" y="1913934"/>
            <a:ext cx="38305" cy="28808"/>
          </a:xfrm>
          <a:custGeom>
            <a:avLst/>
            <a:gdLst/>
            <a:ahLst/>
            <a:cxnLst/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2820;p94">
            <a:extLst>
              <a:ext uri="{FF2B5EF4-FFF2-40B4-BE49-F238E27FC236}">
                <a16:creationId xmlns:a16="http://schemas.microsoft.com/office/drawing/2014/main" id="{C19D252E-028A-4E9C-A145-063B97090E68}"/>
              </a:ext>
            </a:extLst>
          </p:cNvPr>
          <p:cNvSpPr>
            <a:spLocks noGrp="1"/>
          </p:cNvSpPr>
          <p:nvPr/>
        </p:nvSpPr>
        <p:spPr>
          <a:xfrm>
            <a:off x="6097923" y="1873128"/>
            <a:ext cx="34876" cy="34287"/>
          </a:xfrm>
          <a:custGeom>
            <a:avLst/>
            <a:gdLst/>
            <a:ahLst/>
            <a:cxnLst/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2821;p94">
            <a:extLst>
              <a:ext uri="{FF2B5EF4-FFF2-40B4-BE49-F238E27FC236}">
                <a16:creationId xmlns:a16="http://schemas.microsoft.com/office/drawing/2014/main" id="{2E0700E6-BC62-488B-9195-35955F5A5CA1}"/>
              </a:ext>
            </a:extLst>
          </p:cNvPr>
          <p:cNvSpPr>
            <a:spLocks noGrp="1"/>
          </p:cNvSpPr>
          <p:nvPr/>
        </p:nvSpPr>
        <p:spPr>
          <a:xfrm>
            <a:off x="6129223" y="1960292"/>
            <a:ext cx="38305" cy="24735"/>
          </a:xfrm>
          <a:custGeom>
            <a:avLst/>
            <a:gdLst/>
            <a:ahLst/>
            <a:cxnLst/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2822;p94">
            <a:extLst>
              <a:ext uri="{FF2B5EF4-FFF2-40B4-BE49-F238E27FC236}">
                <a16:creationId xmlns:a16="http://schemas.microsoft.com/office/drawing/2014/main" id="{BB9D70BA-2CE9-49FD-B772-C544AC6A4899}"/>
              </a:ext>
            </a:extLst>
          </p:cNvPr>
          <p:cNvSpPr>
            <a:spLocks noGrp="1"/>
          </p:cNvSpPr>
          <p:nvPr/>
        </p:nvSpPr>
        <p:spPr>
          <a:xfrm>
            <a:off x="5710488" y="1722647"/>
            <a:ext cx="738530" cy="731528"/>
          </a:xfrm>
          <a:custGeom>
            <a:avLst/>
            <a:gdLst/>
            <a:ahLst/>
            <a:cxnLst/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2823;p94">
            <a:extLst>
              <a:ext uri="{FF2B5EF4-FFF2-40B4-BE49-F238E27FC236}">
                <a16:creationId xmlns:a16="http://schemas.microsoft.com/office/drawing/2014/main" id="{75D34B0B-CC53-4C34-97D4-F4E4D4C84F89}"/>
              </a:ext>
            </a:extLst>
          </p:cNvPr>
          <p:cNvSpPr>
            <a:spLocks noGrp="1"/>
          </p:cNvSpPr>
          <p:nvPr/>
        </p:nvSpPr>
        <p:spPr>
          <a:xfrm>
            <a:off x="5807750" y="1881793"/>
            <a:ext cx="370213" cy="348361"/>
          </a:xfrm>
          <a:custGeom>
            <a:avLst/>
            <a:gdLst/>
            <a:ahLst/>
            <a:cxnLst/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2824;p94">
            <a:extLst>
              <a:ext uri="{FF2B5EF4-FFF2-40B4-BE49-F238E27FC236}">
                <a16:creationId xmlns:a16="http://schemas.microsoft.com/office/drawing/2014/main" id="{BCB620E0-599B-42B8-91C1-395D2702A788}"/>
              </a:ext>
            </a:extLst>
          </p:cNvPr>
          <p:cNvSpPr>
            <a:spLocks noGrp="1"/>
          </p:cNvSpPr>
          <p:nvPr/>
        </p:nvSpPr>
        <p:spPr>
          <a:xfrm>
            <a:off x="5823435" y="1838099"/>
            <a:ext cx="102586" cy="55245"/>
          </a:xfrm>
          <a:custGeom>
            <a:avLst/>
            <a:gdLst/>
            <a:ahLst/>
            <a:cxnLst/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2825;p94">
            <a:extLst>
              <a:ext uri="{FF2B5EF4-FFF2-40B4-BE49-F238E27FC236}">
                <a16:creationId xmlns:a16="http://schemas.microsoft.com/office/drawing/2014/main" id="{42802F6D-D779-4730-A199-3B9049EA6B66}"/>
              </a:ext>
            </a:extLst>
          </p:cNvPr>
          <p:cNvSpPr>
            <a:spLocks noGrp="1"/>
          </p:cNvSpPr>
          <p:nvPr/>
        </p:nvSpPr>
        <p:spPr>
          <a:xfrm>
            <a:off x="5839050" y="1891866"/>
            <a:ext cx="55670" cy="34955"/>
          </a:xfrm>
          <a:custGeom>
            <a:avLst/>
            <a:gdLst/>
            <a:ahLst/>
            <a:cxnLst/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2826;p94">
            <a:extLst>
              <a:ext uri="{FF2B5EF4-FFF2-40B4-BE49-F238E27FC236}">
                <a16:creationId xmlns:a16="http://schemas.microsoft.com/office/drawing/2014/main" id="{E1C45218-A216-4F7D-BDFA-773E15AFFD5F}"/>
              </a:ext>
            </a:extLst>
          </p:cNvPr>
          <p:cNvSpPr>
            <a:spLocks noGrp="1"/>
          </p:cNvSpPr>
          <p:nvPr/>
        </p:nvSpPr>
        <p:spPr>
          <a:xfrm>
            <a:off x="5889467" y="2335907"/>
            <a:ext cx="76537" cy="21254"/>
          </a:xfrm>
          <a:custGeom>
            <a:avLst/>
            <a:gdLst/>
            <a:ahLst/>
            <a:cxnLst/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2827;p94">
            <a:extLst>
              <a:ext uri="{FF2B5EF4-FFF2-40B4-BE49-F238E27FC236}">
                <a16:creationId xmlns:a16="http://schemas.microsoft.com/office/drawing/2014/main" id="{57F84F54-E40E-488B-BEB8-EE2F141C82F6}"/>
              </a:ext>
            </a:extLst>
          </p:cNvPr>
          <p:cNvSpPr>
            <a:spLocks noGrp="1"/>
          </p:cNvSpPr>
          <p:nvPr/>
        </p:nvSpPr>
        <p:spPr>
          <a:xfrm>
            <a:off x="5889467" y="2374713"/>
            <a:ext cx="177299" cy="23030"/>
          </a:xfrm>
          <a:custGeom>
            <a:avLst/>
            <a:gdLst/>
            <a:ahLst/>
            <a:cxnLst/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2806;p94">
            <a:extLst>
              <a:ext uri="{FF2B5EF4-FFF2-40B4-BE49-F238E27FC236}">
                <a16:creationId xmlns:a16="http://schemas.microsoft.com/office/drawing/2014/main" id="{80C504E5-7AFB-425F-8683-81EB4ADA53DD}"/>
              </a:ext>
            </a:extLst>
          </p:cNvPr>
          <p:cNvSpPr>
            <a:spLocks noGrp="1"/>
          </p:cNvSpPr>
          <p:nvPr/>
        </p:nvSpPr>
        <p:spPr>
          <a:xfrm>
            <a:off x="9757324" y="1749715"/>
            <a:ext cx="738604" cy="694944"/>
          </a:xfrm>
          <a:custGeom>
            <a:avLst/>
            <a:gdLst/>
            <a:ahLst/>
            <a:cxnLst/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2807;p94">
            <a:extLst>
              <a:ext uri="{FF2B5EF4-FFF2-40B4-BE49-F238E27FC236}">
                <a16:creationId xmlns:a16="http://schemas.microsoft.com/office/drawing/2014/main" id="{CD919F2B-4F11-4DB3-AD68-DC6065963522}"/>
              </a:ext>
            </a:extLst>
          </p:cNvPr>
          <p:cNvSpPr>
            <a:spLocks noGrp="1"/>
          </p:cNvSpPr>
          <p:nvPr/>
        </p:nvSpPr>
        <p:spPr>
          <a:xfrm>
            <a:off x="10315126" y="2192350"/>
            <a:ext cx="99083" cy="21254"/>
          </a:xfrm>
          <a:custGeom>
            <a:avLst/>
            <a:gdLst/>
            <a:ahLst/>
            <a:cxnLst/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2808;p94">
            <a:extLst>
              <a:ext uri="{FF2B5EF4-FFF2-40B4-BE49-F238E27FC236}">
                <a16:creationId xmlns:a16="http://schemas.microsoft.com/office/drawing/2014/main" id="{C43824E3-E21C-4168-9574-F0C8252CFF78}"/>
              </a:ext>
            </a:extLst>
          </p:cNvPr>
          <p:cNvSpPr>
            <a:spLocks noGrp="1"/>
          </p:cNvSpPr>
          <p:nvPr/>
        </p:nvSpPr>
        <p:spPr>
          <a:xfrm>
            <a:off x="10240413" y="2231154"/>
            <a:ext cx="173796" cy="23030"/>
          </a:xfrm>
          <a:custGeom>
            <a:avLst/>
            <a:gdLst/>
            <a:ahLst/>
            <a:cxnLst/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2809;p94">
            <a:extLst>
              <a:ext uri="{FF2B5EF4-FFF2-40B4-BE49-F238E27FC236}">
                <a16:creationId xmlns:a16="http://schemas.microsoft.com/office/drawing/2014/main" id="{4E528611-17F4-4C75-B8C8-04D402841502}"/>
              </a:ext>
            </a:extLst>
          </p:cNvPr>
          <p:cNvSpPr>
            <a:spLocks noGrp="1"/>
          </p:cNvSpPr>
          <p:nvPr/>
        </p:nvSpPr>
        <p:spPr>
          <a:xfrm>
            <a:off x="10240413" y="1903160"/>
            <a:ext cx="36555" cy="22957"/>
          </a:xfrm>
          <a:custGeom>
            <a:avLst/>
            <a:gdLst/>
            <a:ahLst/>
            <a:cxnLst/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2810;p94">
            <a:extLst>
              <a:ext uri="{FF2B5EF4-FFF2-40B4-BE49-F238E27FC236}">
                <a16:creationId xmlns:a16="http://schemas.microsoft.com/office/drawing/2014/main" id="{3809F384-90C7-4C20-AAC1-1003AD2C65F9}"/>
              </a:ext>
            </a:extLst>
          </p:cNvPr>
          <p:cNvSpPr>
            <a:spLocks noGrp="1"/>
          </p:cNvSpPr>
          <p:nvPr/>
        </p:nvSpPr>
        <p:spPr>
          <a:xfrm>
            <a:off x="10294259" y="1903160"/>
            <a:ext cx="119950" cy="22957"/>
          </a:xfrm>
          <a:custGeom>
            <a:avLst/>
            <a:gdLst/>
            <a:ahLst/>
            <a:cxnLst/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2811;p94">
            <a:extLst>
              <a:ext uri="{FF2B5EF4-FFF2-40B4-BE49-F238E27FC236}">
                <a16:creationId xmlns:a16="http://schemas.microsoft.com/office/drawing/2014/main" id="{CFEC192B-852A-4C1B-9B99-1D807411D9F8}"/>
              </a:ext>
            </a:extLst>
          </p:cNvPr>
          <p:cNvSpPr>
            <a:spLocks noGrp="1"/>
          </p:cNvSpPr>
          <p:nvPr/>
        </p:nvSpPr>
        <p:spPr>
          <a:xfrm>
            <a:off x="10240413" y="1943669"/>
            <a:ext cx="173796" cy="21254"/>
          </a:xfrm>
          <a:custGeom>
            <a:avLst/>
            <a:gdLst/>
            <a:ahLst/>
            <a:cxnLst/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2812;p94">
            <a:extLst>
              <a:ext uri="{FF2B5EF4-FFF2-40B4-BE49-F238E27FC236}">
                <a16:creationId xmlns:a16="http://schemas.microsoft.com/office/drawing/2014/main" id="{311925E1-AAD7-40BE-87B0-919CBAC40FC6}"/>
              </a:ext>
            </a:extLst>
          </p:cNvPr>
          <p:cNvSpPr>
            <a:spLocks noGrp="1"/>
          </p:cNvSpPr>
          <p:nvPr/>
        </p:nvSpPr>
        <p:spPr>
          <a:xfrm>
            <a:off x="10240413" y="2008912"/>
            <a:ext cx="173796" cy="141225"/>
          </a:xfrm>
          <a:custGeom>
            <a:avLst/>
            <a:gdLst/>
            <a:ahLst/>
            <a:cxnLst/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2813;p94">
            <a:extLst>
              <a:ext uri="{FF2B5EF4-FFF2-40B4-BE49-F238E27FC236}">
                <a16:creationId xmlns:a16="http://schemas.microsoft.com/office/drawing/2014/main" id="{C7EBA6E9-8DC0-4C9E-8F11-E84BAAD9CA10}"/>
              </a:ext>
            </a:extLst>
          </p:cNvPr>
          <p:cNvSpPr>
            <a:spLocks noGrp="1"/>
          </p:cNvSpPr>
          <p:nvPr/>
        </p:nvSpPr>
        <p:spPr>
          <a:xfrm>
            <a:off x="9833790" y="1885460"/>
            <a:ext cx="364957" cy="370427"/>
          </a:xfrm>
          <a:custGeom>
            <a:avLst/>
            <a:gdLst/>
            <a:ahLst/>
            <a:cxnLst/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2814;p94">
            <a:extLst>
              <a:ext uri="{FF2B5EF4-FFF2-40B4-BE49-F238E27FC236}">
                <a16:creationId xmlns:a16="http://schemas.microsoft.com/office/drawing/2014/main" id="{9A6C7A3F-7585-4418-8921-340A277E4B83}"/>
              </a:ext>
            </a:extLst>
          </p:cNvPr>
          <p:cNvSpPr>
            <a:spLocks noGrp="1"/>
          </p:cNvSpPr>
          <p:nvPr/>
        </p:nvSpPr>
        <p:spPr>
          <a:xfrm>
            <a:off x="9844225" y="2227156"/>
            <a:ext cx="52240" cy="37620"/>
          </a:xfrm>
          <a:custGeom>
            <a:avLst/>
            <a:gdLst/>
            <a:ahLst/>
            <a:cxnLst/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2815;p94">
            <a:extLst>
              <a:ext uri="{FF2B5EF4-FFF2-40B4-BE49-F238E27FC236}">
                <a16:creationId xmlns:a16="http://schemas.microsoft.com/office/drawing/2014/main" id="{640AD4B2-060F-41CA-9145-8FE5217D1FBC}"/>
              </a:ext>
            </a:extLst>
          </p:cNvPr>
          <p:cNvSpPr>
            <a:spLocks noGrp="1"/>
          </p:cNvSpPr>
          <p:nvPr/>
        </p:nvSpPr>
        <p:spPr>
          <a:xfrm>
            <a:off x="10037138" y="2075044"/>
            <a:ext cx="52167" cy="36287"/>
          </a:xfrm>
          <a:custGeom>
            <a:avLst/>
            <a:gdLst/>
            <a:ahLst/>
            <a:cxnLst/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2816;p94">
            <a:extLst>
              <a:ext uri="{FF2B5EF4-FFF2-40B4-BE49-F238E27FC236}">
                <a16:creationId xmlns:a16="http://schemas.microsoft.com/office/drawing/2014/main" id="{B9AD07CB-42EC-4E97-9880-D8764D386165}"/>
              </a:ext>
            </a:extLst>
          </p:cNvPr>
          <p:cNvSpPr>
            <a:spLocks noGrp="1"/>
          </p:cNvSpPr>
          <p:nvPr/>
        </p:nvSpPr>
        <p:spPr>
          <a:xfrm>
            <a:off x="10151762" y="1905752"/>
            <a:ext cx="52240" cy="36287"/>
          </a:xfrm>
          <a:custGeom>
            <a:avLst/>
            <a:gdLst/>
            <a:ahLst/>
            <a:cxnLst/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184223" name="Скругленный прямоугольник 17">
            <a:extLst>
              <a:ext uri="{FF2B5EF4-FFF2-40B4-BE49-F238E27FC236}">
                <a16:creationId xmlns:a16="http://schemas.microsoft.com/office/drawing/2014/main" id="{7C4FB34C-1F61-48B5-880F-B3DE7356C14A}"/>
              </a:ext>
            </a:extLst>
          </p:cNvPr>
          <p:cNvSpPr>
            <a:spLocks noGrp="1"/>
          </p:cNvSpPr>
          <p:nvPr/>
        </p:nvSpPr>
        <p:spPr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957439397" name="Заголовок 13">
            <a:extLst>
              <a:ext uri="{FF2B5EF4-FFF2-40B4-BE49-F238E27FC236}">
                <a16:creationId xmlns:a16="http://schemas.microsoft.com/office/drawing/2014/main" id="{620EBA3E-8021-4DE6-8498-282D4308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t>ВЫБОР BACKBONE</a:t>
            </a:r>
          </a:p>
        </p:txBody>
      </p:sp>
      <p:cxnSp>
        <p:nvCxnSpPr>
          <p:cNvPr id="1957439493" name="Google Shape;2799;p94"/>
          <p:cNvCxnSpPr/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21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>
            <a:extLst>
              <a:ext uri="{FF2B5EF4-FFF2-40B4-BE49-F238E27FC236}">
                <a16:creationId xmlns:a16="http://schemas.microsoft.com/office/drawing/2014/main" id="{0691B2DB-EAF6-4BAB-AAFF-64F270A23B8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70980009" name="Номер слайда 12">
            <a:extLst>
              <a:ext uri="{FF2B5EF4-FFF2-40B4-BE49-F238E27FC236}">
                <a16:creationId xmlns:a16="http://schemas.microsoft.com/office/drawing/2014/main" id="{F27F1E01-9B2E-4FF5-8E0F-9309BD0149FB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7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45791128" name="Текст 1">
            <a:extLst>
              <a:ext uri="{FF2B5EF4-FFF2-40B4-BE49-F238E27FC236}">
                <a16:creationId xmlns:a16="http://schemas.microsoft.com/office/drawing/2014/main" id="{DAFC6B83-2446-4E67-9197-5A618933EFCE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ВХОД</a:t>
            </a:r>
          </a:p>
        </p:txBody>
      </p:sp>
      <p:sp>
        <p:nvSpPr>
          <p:cNvPr id="175425605" name="Текст 2">
            <a:extLst>
              <a:ext uri="{FF2B5EF4-FFF2-40B4-BE49-F238E27FC236}">
                <a16:creationId xmlns:a16="http://schemas.microsoft.com/office/drawing/2014/main" id="{81799234-48C6-4DFB-ACFF-B5E51D946C3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>
                <a:solidFill>
                  <a:srgbClr val="2D1451"/>
                </a:solidFill>
              </a:rPr>
              <a:t>JPEG + </a:t>
            </a:r>
            <a:r>
              <a:rPr dirty="0" err="1">
                <a:solidFill>
                  <a:srgbClr val="2D1451"/>
                </a:solidFill>
              </a:rPr>
              <a:t>BBox</a:t>
            </a:r>
            <a:r>
              <a:rPr dirty="0">
                <a:solidFill>
                  <a:srgbClr val="2D1451"/>
                </a:solidFill>
              </a:rPr>
              <a:t>. </a:t>
            </a:r>
            <a:r>
              <a:rPr dirty="0" err="1">
                <a:solidFill>
                  <a:srgbClr val="2D1451"/>
                </a:solidFill>
              </a:rPr>
              <a:t>Один</a:t>
            </a:r>
            <a:r>
              <a:rPr dirty="0">
                <a:solidFill>
                  <a:srgbClr val="2D1451"/>
                </a:solidFill>
              </a:rPr>
              <a:t> decode и </a:t>
            </a:r>
            <a:r>
              <a:rPr dirty="0" err="1">
                <a:solidFill>
                  <a:srgbClr val="2D1451"/>
                </a:solidFill>
              </a:rPr>
              <a:t>единый</a:t>
            </a:r>
            <a:r>
              <a:rPr dirty="0">
                <a:solidFill>
                  <a:srgbClr val="2D1451"/>
                </a:solidFill>
              </a:rPr>
              <a:t> crop </a:t>
            </a:r>
            <a:r>
              <a:rPr dirty="0" err="1">
                <a:solidFill>
                  <a:srgbClr val="2D1451"/>
                </a:solidFill>
              </a:rPr>
              <a:t>для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всех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ветвей</a:t>
            </a:r>
            <a:r>
              <a:rPr dirty="0">
                <a:solidFill>
                  <a:srgbClr val="2D1451"/>
                </a:solidFill>
              </a:rPr>
              <a:t>.</a:t>
            </a:r>
          </a:p>
        </p:txBody>
      </p:sp>
      <p:sp>
        <p:nvSpPr>
          <p:cNvPr id="567808411" name="Текст 3">
            <a:extLst>
              <a:ext uri="{FF2B5EF4-FFF2-40B4-BE49-F238E27FC236}">
                <a16:creationId xmlns:a16="http://schemas.microsoft.com/office/drawing/2014/main" id="{6C5E7AE0-859C-4EC6-A02B-DEDF1DF5E61D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ПОИСК</a:t>
            </a:r>
          </a:p>
        </p:txBody>
      </p:sp>
      <p:sp>
        <p:nvSpPr>
          <p:cNvPr id="1063055699" name="Текст 4">
            <a:extLst>
              <a:ext uri="{FF2B5EF4-FFF2-40B4-BE49-F238E27FC236}">
                <a16:creationId xmlns:a16="http://schemas.microsoft.com/office/drawing/2014/main" id="{CA5A0BB0-3AA0-4A00-9EDB-D6024B970B66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814077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>
                <a:solidFill>
                  <a:srgbClr val="2D1451"/>
                </a:solidFill>
              </a:rPr>
              <a:t>Cosine similarity </a:t>
            </a:r>
            <a:r>
              <a:rPr dirty="0" err="1">
                <a:solidFill>
                  <a:srgbClr val="2D1451"/>
                </a:solidFill>
              </a:rPr>
              <a:t>по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заранее</a:t>
            </a:r>
            <a:r>
              <a:rPr dirty="0">
                <a:solidFill>
                  <a:srgbClr val="2D1451"/>
                </a:solidFill>
              </a:rPr>
              <a:t> </a:t>
            </a:r>
            <a:r>
              <a:rPr dirty="0" err="1">
                <a:solidFill>
                  <a:srgbClr val="2D1451"/>
                </a:solidFill>
              </a:rPr>
              <a:t>рассчитанной</a:t>
            </a:r>
            <a:r>
              <a:rPr dirty="0">
                <a:solidFill>
                  <a:srgbClr val="2D1451"/>
                </a:solidFill>
              </a:rPr>
              <a:t> static gallery; shortlist top‑50.</a:t>
            </a:r>
          </a:p>
        </p:txBody>
      </p:sp>
      <p:sp>
        <p:nvSpPr>
          <p:cNvPr id="1501354303" name="Текст 5">
            <a:extLst>
              <a:ext uri="{FF2B5EF4-FFF2-40B4-BE49-F238E27FC236}">
                <a16:creationId xmlns:a16="http://schemas.microsoft.com/office/drawing/2014/main" id="{11CB69F1-33AF-4F1E-A6F0-29B3D2021003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РЕШЕНИЕ</a:t>
            </a:r>
          </a:p>
        </p:txBody>
      </p:sp>
      <p:sp>
        <p:nvSpPr>
          <p:cNvPr id="1321846474" name="Текст 6">
            <a:extLst>
              <a:ext uri="{FF2B5EF4-FFF2-40B4-BE49-F238E27FC236}">
                <a16:creationId xmlns:a16="http://schemas.microsoft.com/office/drawing/2014/main" id="{51D099CC-54D1-431E-86E1-870600C90F74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814077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>
                <a:solidFill>
                  <a:srgbClr val="2D1451"/>
                </a:solidFill>
              </a:rPr>
              <a:t>submission.csv: top‑10 для каждого query. candidates.csv/API: принятый top‑1 либо 0 кандидатов.</a:t>
            </a:r>
          </a:p>
        </p:txBody>
      </p:sp>
      <p:sp>
        <p:nvSpPr>
          <p:cNvPr id="21704065" name="Текст 7">
            <a:extLst>
              <a:ext uri="{FF2B5EF4-FFF2-40B4-BE49-F238E27FC236}">
                <a16:creationId xmlns:a16="http://schemas.microsoft.com/office/drawing/2014/main" id="{9B9700D3-8C7B-45A3-A377-35A08F4012B9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ПРИЗНАК</a:t>
            </a:r>
          </a:p>
        </p:txBody>
      </p:sp>
      <p:sp>
        <p:nvSpPr>
          <p:cNvPr id="852980671" name="Текст 8">
            <a:extLst>
              <a:ext uri="{FF2B5EF4-FFF2-40B4-BE49-F238E27FC236}">
                <a16:creationId xmlns:a16="http://schemas.microsoft.com/office/drawing/2014/main" id="{5731EA59-4B0E-47C7-98B0-A29532698716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5181340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 err="1">
                <a:solidFill>
                  <a:srgbClr val="2D1451"/>
                </a:solidFill>
              </a:rPr>
              <a:t>OSNet</a:t>
            </a:r>
            <a:r>
              <a:rPr dirty="0">
                <a:solidFill>
                  <a:srgbClr val="2D1451"/>
                </a:solidFill>
              </a:rPr>
              <a:t> + DINOv2 + </a:t>
            </a:r>
            <a:r>
              <a:rPr dirty="0" err="1">
                <a:solidFill>
                  <a:srgbClr val="2D1451"/>
                </a:solidFill>
              </a:rPr>
              <a:t>ConvNeXt</a:t>
            </a:r>
            <a:r>
              <a:rPr dirty="0">
                <a:solidFill>
                  <a:srgbClr val="2D1451"/>
                </a:solidFill>
              </a:rPr>
              <a:t> + HSV → 1792‑d L2 descriptor.</a:t>
            </a:r>
          </a:p>
        </p:txBody>
      </p:sp>
      <p:sp>
        <p:nvSpPr>
          <p:cNvPr id="58284361" name="Текст 9">
            <a:extLst>
              <a:ext uri="{FF2B5EF4-FFF2-40B4-BE49-F238E27FC236}">
                <a16:creationId xmlns:a16="http://schemas.microsoft.com/office/drawing/2014/main" id="{F38BD05B-A971-4361-B7F3-0CA458F53641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ПРОВЕРКА</a:t>
            </a:r>
          </a:p>
        </p:txBody>
      </p:sp>
      <p:sp>
        <p:nvSpPr>
          <p:cNvPr id="1837104852" name="Текст 10">
            <a:extLst>
              <a:ext uri="{FF2B5EF4-FFF2-40B4-BE49-F238E27FC236}">
                <a16:creationId xmlns:a16="http://schemas.microsoft.com/office/drawing/2014/main" id="{80B35A3B-04B4-4331-A2D4-A43994B93880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5181340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>
                <a:solidFill>
                  <a:srgbClr val="2D1451"/>
                </a:solidFill>
              </a:rPr>
              <a:t>DINO tokens/patches, pair verifier, </a:t>
            </a:r>
            <a:r>
              <a:rPr dirty="0" err="1">
                <a:solidFill>
                  <a:srgbClr val="2D1451"/>
                </a:solidFill>
              </a:rPr>
              <a:t>LambdaRank</a:t>
            </a:r>
            <a:r>
              <a:rPr dirty="0">
                <a:solidFill>
                  <a:srgbClr val="2D1451"/>
                </a:solidFill>
              </a:rPr>
              <a:t> и family GNN </a:t>
            </a:r>
            <a:r>
              <a:rPr dirty="0" err="1">
                <a:solidFill>
                  <a:srgbClr val="2D1451"/>
                </a:solidFill>
              </a:rPr>
              <a:t>переставляют</a:t>
            </a:r>
            <a:r>
              <a:rPr dirty="0">
                <a:solidFill>
                  <a:srgbClr val="2D1451"/>
                </a:solidFill>
              </a:rPr>
              <a:t> top‑25.</a:t>
            </a:r>
          </a:p>
        </p:txBody>
      </p:sp>
      <p:sp>
        <p:nvSpPr>
          <p:cNvPr id="1731368653" name="Прямая соединительная линия 33">
            <a:extLst>
              <a:ext uri="{FF2B5EF4-FFF2-40B4-BE49-F238E27FC236}">
                <a16:creationId xmlns:a16="http://schemas.microsoft.com/office/drawing/2014/main" id="{79BFEF18-26F7-43D0-BD2B-491609911E15}"/>
              </a:ext>
            </a:extLst>
          </p:cNvPr>
          <p:cNvSpPr>
            <a:spLocks noGrp="1"/>
          </p:cNvSpPr>
          <p:nvPr/>
        </p:nv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4670215" name="Прямая соединительная линия 34">
            <a:extLst>
              <a:ext uri="{FF2B5EF4-FFF2-40B4-BE49-F238E27FC236}">
                <a16:creationId xmlns:a16="http://schemas.microsoft.com/office/drawing/2014/main" id="{9C80D890-FB3F-43A3-9B4B-F0876D3380E8}"/>
              </a:ext>
            </a:extLst>
          </p:cNvPr>
          <p:cNvSpPr>
            <a:spLocks noGrp="1"/>
          </p:cNvSpPr>
          <p:nvPr/>
        </p:nv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0144373" name="Прямая соединительная линия 35">
            <a:extLst>
              <a:ext uri="{FF2B5EF4-FFF2-40B4-BE49-F238E27FC236}">
                <a16:creationId xmlns:a16="http://schemas.microsoft.com/office/drawing/2014/main" id="{71E6D639-913A-4396-B4A6-7FEE14FBADD9}"/>
              </a:ext>
            </a:extLst>
          </p:cNvPr>
          <p:cNvSpPr>
            <a:spLocks noGrp="1"/>
          </p:cNvSpPr>
          <p:nvPr/>
        </p:nv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664500" name="Прямая соединительная линия 36">
            <a:extLst>
              <a:ext uri="{FF2B5EF4-FFF2-40B4-BE49-F238E27FC236}">
                <a16:creationId xmlns:a16="http://schemas.microsoft.com/office/drawing/2014/main" id="{B9FB534B-DF89-4008-A203-80408D59BC4B}"/>
              </a:ext>
            </a:extLst>
          </p:cNvPr>
          <p:cNvSpPr>
            <a:spLocks noGrp="1"/>
          </p:cNvSpPr>
          <p:nvPr/>
        </p:nv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05829465" name="Прямая соединительная линия 37">
            <a:extLst>
              <a:ext uri="{FF2B5EF4-FFF2-40B4-BE49-F238E27FC236}">
                <a16:creationId xmlns:a16="http://schemas.microsoft.com/office/drawing/2014/main" id="{6D485B4F-5D55-497B-A3CB-BC0E160F5D26}"/>
              </a:ext>
            </a:extLst>
          </p:cNvPr>
          <p:cNvSpPr>
            <a:spLocks noGrp="1"/>
          </p:cNvSpPr>
          <p:nvPr/>
        </p:nv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2336023" name="Прямая соединительная линия 38">
            <a:extLst>
              <a:ext uri="{FF2B5EF4-FFF2-40B4-BE49-F238E27FC236}">
                <a16:creationId xmlns:a16="http://schemas.microsoft.com/office/drawing/2014/main" id="{B0D9170A-0269-48D0-8BAF-026F638CB3E7}"/>
              </a:ext>
            </a:extLst>
          </p:cNvPr>
          <p:cNvSpPr>
            <a:spLocks noGrp="1"/>
          </p:cNvSpPr>
          <p:nvPr/>
        </p:nv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6998851" name="Прямая соединительная линия 39">
            <a:extLst>
              <a:ext uri="{FF2B5EF4-FFF2-40B4-BE49-F238E27FC236}">
                <a16:creationId xmlns:a16="http://schemas.microsoft.com/office/drawing/2014/main" id="{FA2055B8-8EED-4278-AEF2-CC7F65C42214}"/>
              </a:ext>
            </a:extLst>
          </p:cNvPr>
          <p:cNvSpPr>
            <a:spLocks noGrp="1"/>
          </p:cNvSpPr>
          <p:nvPr/>
        </p:nv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937511" name="Прямая соединительная линия 40">
            <a:extLst>
              <a:ext uri="{FF2B5EF4-FFF2-40B4-BE49-F238E27FC236}">
                <a16:creationId xmlns:a16="http://schemas.microsoft.com/office/drawing/2014/main" id="{546A02D4-6851-4267-B1E6-88C68F0BA296}"/>
              </a:ext>
            </a:extLst>
          </p:cNvPr>
          <p:cNvSpPr>
            <a:spLocks noGrp="1"/>
          </p:cNvSpPr>
          <p:nvPr/>
        </p:nv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7810320" name="Прямая соединительная линия 41">
            <a:extLst>
              <a:ext uri="{FF2B5EF4-FFF2-40B4-BE49-F238E27FC236}">
                <a16:creationId xmlns:a16="http://schemas.microsoft.com/office/drawing/2014/main" id="{CBA4F9B3-F47F-4D39-8B38-721DDCAB9E44}"/>
              </a:ext>
            </a:extLst>
          </p:cNvPr>
          <p:cNvSpPr>
            <a:spLocks noGrp="1"/>
          </p:cNvSpPr>
          <p:nvPr/>
        </p:nv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8751272" name="Скругленный прямоугольник 42">
            <a:extLst>
              <a:ext uri="{FF2B5EF4-FFF2-40B4-BE49-F238E27FC236}">
                <a16:creationId xmlns:a16="http://schemas.microsoft.com/office/drawing/2014/main" id="{CF231F77-CDCF-49A7-9FE8-9D1867243233}"/>
              </a:ext>
            </a:extLst>
          </p:cNvPr>
          <p:cNvSpPr>
            <a:spLocks noGrp="1"/>
          </p:cNvSpPr>
          <p:nvPr/>
        </p:nvSpPr>
        <p:spPr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812859897" name="Скругленный прямоугольник 43">
            <a:extLst>
              <a:ext uri="{FF2B5EF4-FFF2-40B4-BE49-F238E27FC236}">
                <a16:creationId xmlns:a16="http://schemas.microsoft.com/office/drawing/2014/main" id="{37D87DB0-31F2-446F-8DE7-424D71D10562}"/>
              </a:ext>
            </a:extLst>
          </p:cNvPr>
          <p:cNvSpPr>
            <a:spLocks noGrp="1"/>
          </p:cNvSpPr>
          <p:nvPr/>
        </p:nvSpPr>
        <p:spPr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108934526" name="Скругленный прямоугольник 44">
            <a:extLst>
              <a:ext uri="{FF2B5EF4-FFF2-40B4-BE49-F238E27FC236}">
                <a16:creationId xmlns:a16="http://schemas.microsoft.com/office/drawing/2014/main" id="{CC439717-08AA-4BF8-8535-722CE7ADE0E0}"/>
              </a:ext>
            </a:extLst>
          </p:cNvPr>
          <p:cNvSpPr>
            <a:spLocks noGrp="1"/>
          </p:cNvSpPr>
          <p:nvPr/>
        </p:nvSpPr>
        <p:spPr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1741896490" name="Скругленный прямоугольник 52">
            <a:extLst>
              <a:ext uri="{FF2B5EF4-FFF2-40B4-BE49-F238E27FC236}">
                <a16:creationId xmlns:a16="http://schemas.microsoft.com/office/drawing/2014/main" id="{B11E4735-E292-417C-AB3C-96FBF76ED5F2}"/>
              </a:ext>
            </a:extLst>
          </p:cNvPr>
          <p:cNvSpPr>
            <a:spLocks noGrp="1"/>
          </p:cNvSpPr>
          <p:nvPr/>
        </p:nvSpPr>
        <p:spPr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1007682587" name="Скругленный прямоугольник 53">
            <a:extLst>
              <a:ext uri="{FF2B5EF4-FFF2-40B4-BE49-F238E27FC236}">
                <a16:creationId xmlns:a16="http://schemas.microsoft.com/office/drawing/2014/main" id="{54B6BCE1-405A-469F-AC68-C02A319B4119}"/>
              </a:ext>
            </a:extLst>
          </p:cNvPr>
          <p:cNvSpPr>
            <a:spLocks noGrp="1"/>
          </p:cNvSpPr>
          <p:nvPr/>
        </p:nvSpPr>
        <p:spPr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475492823" name="Заголовок 13">
            <a:extLst>
              <a:ext uri="{FF2B5EF4-FFF2-40B4-BE49-F238E27FC236}">
                <a16:creationId xmlns:a16="http://schemas.microsoft.com/office/drawing/2014/main" id="{4AC444F8-A2CC-46E8-98AC-7BE9F4E7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t>АРХИТЕКТУРА</a:t>
            </a:r>
          </a:p>
        </p:txBody>
      </p:sp>
      <p:sp>
        <p:nvSpPr>
          <p:cNvPr id="1473606708" name="Скругленный прямоугольник 13">
            <a:extLst>
              <a:ext uri="{FF2B5EF4-FFF2-40B4-BE49-F238E27FC236}">
                <a16:creationId xmlns:a16="http://schemas.microsoft.com/office/drawing/2014/main" id="{650A4214-FB78-433C-B4B1-E03ACD048E9C}"/>
              </a:ext>
            </a:extLst>
          </p:cNvPr>
          <p:cNvSpPr>
            <a:spLocks noGrp="1"/>
          </p:cNvSpPr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6179979" name="Скругленный прямоугольник 15">
            <a:extLst>
              <a:ext uri="{FF2B5EF4-FFF2-40B4-BE49-F238E27FC236}">
                <a16:creationId xmlns:a16="http://schemas.microsoft.com/office/drawing/2014/main" id="{71481603-7CA9-4036-B99B-D1742455CB72}"/>
              </a:ext>
            </a:extLst>
          </p:cNvPr>
          <p:cNvSpPr>
            <a:spLocks noGrp="1"/>
          </p:cNvSpPr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05368717" name="Скругленный прямоугольник 16">
            <a:extLst>
              <a:ext uri="{FF2B5EF4-FFF2-40B4-BE49-F238E27FC236}">
                <a16:creationId xmlns:a16="http://schemas.microsoft.com/office/drawing/2014/main" id="{C351E3DD-2601-41A4-A2DA-F093BA94A52E}"/>
              </a:ext>
            </a:extLst>
          </p:cNvPr>
          <p:cNvSpPr>
            <a:spLocks noGrp="1"/>
          </p:cNvSpPr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93685711" name="Скругленный прямоугольник 17">
            <a:extLst>
              <a:ext uri="{FF2B5EF4-FFF2-40B4-BE49-F238E27FC236}">
                <a16:creationId xmlns:a16="http://schemas.microsoft.com/office/drawing/2014/main" id="{734A3730-7272-484F-A700-51121D7EF477}"/>
              </a:ext>
            </a:extLst>
          </p:cNvPr>
          <p:cNvSpPr>
            <a:spLocks noGrp="1"/>
          </p:cNvSpPr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24313899" name="Скругленный прямоугольник 18">
            <a:extLst>
              <a:ext uri="{FF2B5EF4-FFF2-40B4-BE49-F238E27FC236}">
                <a16:creationId xmlns:a16="http://schemas.microsoft.com/office/drawing/2014/main" id="{DE7F75AD-2B5F-419C-BC5E-08FF8995FFDE}"/>
              </a:ext>
            </a:extLst>
          </p:cNvPr>
          <p:cNvSpPr>
            <a:spLocks noGrp="1"/>
          </p:cNvSpPr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402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>
            <a:extLst>
              <a:ext uri="{FF2B5EF4-FFF2-40B4-BE49-F238E27FC236}">
                <a16:creationId xmlns:a16="http://schemas.microsoft.com/office/drawing/2014/main" id="{33B311ED-26AA-48A7-86A8-E1A109A91E4C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982014152" name="Скругленный прямоугольник 16">
            <a:extLst>
              <a:ext uri="{FF2B5EF4-FFF2-40B4-BE49-F238E27FC236}">
                <a16:creationId xmlns:a16="http://schemas.microsoft.com/office/drawing/2014/main" id="{14BB1E2E-7077-4C6A-A8F3-3437BF15FB8F}"/>
              </a:ext>
            </a:extLst>
          </p:cNvPr>
          <p:cNvSpPr>
            <a:spLocks noGrp="1"/>
          </p:cNvSpPr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1388613" name="Скругленный прямоугольник 17">
            <a:extLst>
              <a:ext uri="{FF2B5EF4-FFF2-40B4-BE49-F238E27FC236}">
                <a16:creationId xmlns:a16="http://schemas.microsoft.com/office/drawing/2014/main" id="{3C7ABC0A-807D-4AE0-A506-E18BC10A2173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633510201" name="Скругленный прямоугольник 18">
            <a:extLst>
              <a:ext uri="{FF2B5EF4-FFF2-40B4-BE49-F238E27FC236}">
                <a16:creationId xmlns:a16="http://schemas.microsoft.com/office/drawing/2014/main" id="{35AD820B-DCD5-45FA-B890-86084527871A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2421930" name="Скругленный прямоугольник 22">
            <a:extLst>
              <a:ext uri="{FF2B5EF4-FFF2-40B4-BE49-F238E27FC236}">
                <a16:creationId xmlns:a16="http://schemas.microsoft.com/office/drawing/2014/main" id="{1EFE7B9A-3298-47ED-B76A-7E45AE530E50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666391307" name="Скругленный прямоугольник 23">
            <a:extLst>
              <a:ext uri="{FF2B5EF4-FFF2-40B4-BE49-F238E27FC236}">
                <a16:creationId xmlns:a16="http://schemas.microsoft.com/office/drawing/2014/main" id="{F7EC975B-7D3A-48D5-ACD2-8D1FFBDBBF4E}"/>
              </a:ext>
            </a:extLst>
          </p:cNvPr>
          <p:cNvSpPr>
            <a:spLocks noGrp="1"/>
          </p:cNvSpPr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871517961" name="Скругленный прямоугольник 14">
            <a:extLst>
              <a:ext uri="{FF2B5EF4-FFF2-40B4-BE49-F238E27FC236}">
                <a16:creationId xmlns:a16="http://schemas.microsoft.com/office/drawing/2014/main" id="{2C77FDE2-0763-4A02-9623-89A79259CC74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2068307345" name="Текст 3">
            <a:extLst>
              <a:ext uri="{FF2B5EF4-FFF2-40B4-BE49-F238E27FC236}">
                <a16:creationId xmlns:a16="http://schemas.microsoft.com/office/drawing/2014/main" id="{C338025A-13E4-4E9A-8BA6-5BFBDBAAAA7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buNone/>
            </a:pPr>
            <a:r>
              <a:rPr>
                <a:solidFill>
                  <a:srgbClr val="2D1451"/>
                </a:solidFill>
              </a:rPr>
              <a:t>Один автомобиль спереди и сзади визуально различается сильнее, чем две машины одной модели. Поэтому мы не полагаемся на один глобальный embedding: объединяем ReID-признак, локальные части, DINO patch tokens и независимую CNN-ветвь. Камера используется только для честной маски junk при validation — не на inference.</a:t>
            </a:r>
          </a:p>
        </p:txBody>
      </p:sp>
      <p:sp>
        <p:nvSpPr>
          <p:cNvPr id="90602484" name="Текст 4">
            <a:extLst>
              <a:ext uri="{FF2B5EF4-FFF2-40B4-BE49-F238E27FC236}">
                <a16:creationId xmlns:a16="http://schemas.microsoft.com/office/drawing/2014/main" id="{F803DEF3-ACB0-498A-96A1-413D68014C9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01 · Единый crop/resize и нормализация цвета</a:t>
            </a:r>
          </a:p>
        </p:txBody>
      </p:sp>
      <p:sp>
        <p:nvSpPr>
          <p:cNvPr id="2102025926" name="Текст 5">
            <a:extLst>
              <a:ext uri="{FF2B5EF4-FFF2-40B4-BE49-F238E27FC236}">
                <a16:creationId xmlns:a16="http://schemas.microsoft.com/office/drawing/2014/main" id="{9FD43855-64E3-4233-9C9F-E2C731ECED4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02 · Part descriptors связывают устойчивые зоны кузова</a:t>
            </a:r>
          </a:p>
        </p:txBody>
      </p:sp>
      <p:sp>
        <p:nvSpPr>
          <p:cNvPr id="1984634015" name="Текст 6">
            <a:extLst>
              <a:ext uri="{FF2B5EF4-FFF2-40B4-BE49-F238E27FC236}">
                <a16:creationId xmlns:a16="http://schemas.microsoft.com/office/drawing/2014/main" id="{62ED7771-6887-45D8-A657-5519249B4578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03 · DINO patch correspondences сравнивают локальные детали</a:t>
            </a:r>
          </a:p>
        </p:txBody>
      </p:sp>
      <p:sp>
        <p:nvSpPr>
          <p:cNvPr id="1065989968" name="Текст 7">
            <a:extLst>
              <a:ext uri="{FF2B5EF4-FFF2-40B4-BE49-F238E27FC236}">
                <a16:creationId xmlns:a16="http://schemas.microsoft.com/office/drawing/2014/main" id="{299AB7A3-02C5-4A0B-A453-F4E6D26AB99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04 · Три backbone снижают корреляцию ошибок</a:t>
            </a:r>
          </a:p>
        </p:txBody>
      </p:sp>
      <p:sp>
        <p:nvSpPr>
          <p:cNvPr id="1908450424" name="Текст 8">
            <a:extLst>
              <a:ext uri="{FF2B5EF4-FFF2-40B4-BE49-F238E27FC236}">
                <a16:creationId xmlns:a16="http://schemas.microsoft.com/office/drawing/2014/main" id="{823A7412-A81D-4ECB-8645-2AC7A90D1CC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05 · Cross-camera validation не вознаграждает фон камеры</a:t>
            </a:r>
          </a:p>
        </p:txBody>
      </p:sp>
      <p:sp>
        <p:nvSpPr>
          <p:cNvPr id="1065763849" name="Номер слайда 9">
            <a:extLst>
              <a:ext uri="{FF2B5EF4-FFF2-40B4-BE49-F238E27FC236}">
                <a16:creationId xmlns:a16="http://schemas.microsoft.com/office/drawing/2014/main" id="{265DAF85-FABC-4FD6-A2B4-0ADB604538C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3200" y="6356350"/>
            <a:ext cx="558800" cy="365125"/>
          </a:xfrm>
        </p:spPr>
        <p:txBody>
          <a:bodyPr>
            <a:normAutofit/>
          </a:bodyPr>
          <a:lstStyle/>
          <a:p>
            <a:pPr>
              <a:buNone/>
            </a:pPr>
            <a:r>
              <a:t>8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0914196" name="Заголовок 13">
            <a:extLst>
              <a:ext uri="{FF2B5EF4-FFF2-40B4-BE49-F238E27FC236}">
                <a16:creationId xmlns:a16="http://schemas.microsoft.com/office/drawing/2014/main" id="{15139632-DAA6-4BC1-A671-A0FFAC3C0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t>РАКУРС И СВЕТ</a:t>
            </a:r>
          </a:p>
        </p:txBody>
      </p:sp>
    </p:spTree>
    <p:extLst>
      <p:ext uri="{BB962C8B-B14F-4D97-AF65-F5344CB8AC3E}">
        <p14:creationId xmlns:p14="http://schemas.microsoft.com/office/powerpoint/2010/main" val="28190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>
            <a:extLst>
              <a:ext uri="{FF2B5EF4-FFF2-40B4-BE49-F238E27FC236}">
                <a16:creationId xmlns:a16="http://schemas.microsoft.com/office/drawing/2014/main" id="{0691B2DB-EAF6-4BAB-AAFF-64F270A23B8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70980009" name="Номер слайда 12">
            <a:extLst>
              <a:ext uri="{FF2B5EF4-FFF2-40B4-BE49-F238E27FC236}">
                <a16:creationId xmlns:a16="http://schemas.microsoft.com/office/drawing/2014/main" id="{F27F1E01-9B2E-4FF5-8E0F-9309BD0149FB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9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45791128" name="Текст 1">
            <a:extLst>
              <a:ext uri="{FF2B5EF4-FFF2-40B4-BE49-F238E27FC236}">
                <a16:creationId xmlns:a16="http://schemas.microsoft.com/office/drawing/2014/main" id="{DAFC6B83-2446-4E67-9197-5A618933EFCE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ЗАПРОС</a:t>
            </a:r>
          </a:p>
        </p:txBody>
      </p:sp>
      <p:sp>
        <p:nvSpPr>
          <p:cNvPr id="175425605" name="Текст 2">
            <a:extLst>
              <a:ext uri="{FF2B5EF4-FFF2-40B4-BE49-F238E27FC236}">
                <a16:creationId xmlns:a16="http://schemas.microsoft.com/office/drawing/2014/main" id="{81799234-48C6-4DFB-ACFF-B5E51D946C3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Оператор передаёт изображение и BBox транспортного средства.</a:t>
            </a:r>
          </a:p>
        </p:txBody>
      </p:sp>
      <p:sp>
        <p:nvSpPr>
          <p:cNvPr id="567808411" name="Текст 3">
            <a:extLst>
              <a:ext uri="{FF2B5EF4-FFF2-40B4-BE49-F238E27FC236}">
                <a16:creationId xmlns:a16="http://schemas.microsoft.com/office/drawing/2014/main" id="{6C5E7AE0-859C-4EC6-A02B-DEDF1DF5E61D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ПОИСК</a:t>
            </a:r>
          </a:p>
        </p:txBody>
      </p:sp>
      <p:sp>
        <p:nvSpPr>
          <p:cNvPr id="1063055699" name="Текст 4">
            <a:extLst>
              <a:ext uri="{FF2B5EF4-FFF2-40B4-BE49-F238E27FC236}">
                <a16:creationId xmlns:a16="http://schemas.microsoft.com/office/drawing/2014/main" id="{CA5A0BB0-3AA0-4A00-9EDB-D6024B970B66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814077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Индекс gallery возвращает 50 наиболее близких кандидатов.</a:t>
            </a:r>
          </a:p>
        </p:txBody>
      </p:sp>
      <p:sp>
        <p:nvSpPr>
          <p:cNvPr id="1501354303" name="Текст 5">
            <a:extLst>
              <a:ext uri="{FF2B5EF4-FFF2-40B4-BE49-F238E27FC236}">
                <a16:creationId xmlns:a16="http://schemas.microsoft.com/office/drawing/2014/main" id="{11CB69F1-33AF-4F1E-A6F0-29B3D2021003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ОТВЕТ / ОТКАЗ</a:t>
            </a:r>
          </a:p>
        </p:txBody>
      </p:sp>
      <p:sp>
        <p:nvSpPr>
          <p:cNvPr id="1321846474" name="Текст 6">
            <a:extLst>
              <a:ext uri="{FF2B5EF4-FFF2-40B4-BE49-F238E27FC236}">
                <a16:creationId xmlns:a16="http://schemas.microsoft.com/office/drawing/2014/main" id="{51D099CC-54D1-431E-86E1-870600C90F74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814077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Принято: выдать candidate. Отказ: 0 кандидатов. Top‑10 остаётся для mAP и диагностики.</a:t>
            </a:r>
          </a:p>
        </p:txBody>
      </p:sp>
      <p:sp>
        <p:nvSpPr>
          <p:cNvPr id="21704065" name="Текст 7">
            <a:extLst>
              <a:ext uri="{FF2B5EF4-FFF2-40B4-BE49-F238E27FC236}">
                <a16:creationId xmlns:a16="http://schemas.microsoft.com/office/drawing/2014/main" id="{9B9700D3-8C7B-45A3-A377-35A08F4012B9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ПРИЗНАК</a:t>
            </a:r>
          </a:p>
        </p:txBody>
      </p:sp>
      <p:sp>
        <p:nvSpPr>
          <p:cNvPr id="852980671" name="Текст 8">
            <a:extLst>
              <a:ext uri="{FF2B5EF4-FFF2-40B4-BE49-F238E27FC236}">
                <a16:creationId xmlns:a16="http://schemas.microsoft.com/office/drawing/2014/main" id="{5731EA59-4B0E-47C7-98B0-A29532698716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5181340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Сервис одним проходом извлекает три визуальных сигнала.</a:t>
            </a:r>
          </a:p>
        </p:txBody>
      </p:sp>
      <p:sp>
        <p:nvSpPr>
          <p:cNvPr id="58284361" name="Текст 9">
            <a:extLst>
              <a:ext uri="{FF2B5EF4-FFF2-40B4-BE49-F238E27FC236}">
                <a16:creationId xmlns:a16="http://schemas.microsoft.com/office/drawing/2014/main" id="{F38BD05B-A971-4361-B7F3-0CA458F53641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RERANK</a:t>
            </a:r>
          </a:p>
        </p:txBody>
      </p:sp>
      <p:sp>
        <p:nvSpPr>
          <p:cNvPr id="1837104852" name="Текст 10">
            <a:extLst>
              <a:ext uri="{FF2B5EF4-FFF2-40B4-BE49-F238E27FC236}">
                <a16:creationId xmlns:a16="http://schemas.microsoft.com/office/drawing/2014/main" id="{80B35A3B-04B4-4331-A2D4-A43994B93880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5181340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Локальные признаки уточняют порядок первых 25 изображений.</a:t>
            </a:r>
          </a:p>
        </p:txBody>
      </p:sp>
      <p:sp>
        <p:nvSpPr>
          <p:cNvPr id="1731368653" name="Прямая соединительная линия 33">
            <a:extLst>
              <a:ext uri="{FF2B5EF4-FFF2-40B4-BE49-F238E27FC236}">
                <a16:creationId xmlns:a16="http://schemas.microsoft.com/office/drawing/2014/main" id="{79BFEF18-26F7-43D0-BD2B-491609911E15}"/>
              </a:ext>
            </a:extLst>
          </p:cNvPr>
          <p:cNvSpPr>
            <a:spLocks noGrp="1"/>
          </p:cNvSpPr>
          <p:nvPr/>
        </p:nv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4670215" name="Прямая соединительная линия 34">
            <a:extLst>
              <a:ext uri="{FF2B5EF4-FFF2-40B4-BE49-F238E27FC236}">
                <a16:creationId xmlns:a16="http://schemas.microsoft.com/office/drawing/2014/main" id="{9C80D890-FB3F-43A3-9B4B-F0876D3380E8}"/>
              </a:ext>
            </a:extLst>
          </p:cNvPr>
          <p:cNvSpPr>
            <a:spLocks noGrp="1"/>
          </p:cNvSpPr>
          <p:nvPr/>
        </p:nv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0144373" name="Прямая соединительная линия 35">
            <a:extLst>
              <a:ext uri="{FF2B5EF4-FFF2-40B4-BE49-F238E27FC236}">
                <a16:creationId xmlns:a16="http://schemas.microsoft.com/office/drawing/2014/main" id="{71E6D639-913A-4396-B4A6-7FEE14FBADD9}"/>
              </a:ext>
            </a:extLst>
          </p:cNvPr>
          <p:cNvSpPr>
            <a:spLocks noGrp="1"/>
          </p:cNvSpPr>
          <p:nvPr/>
        </p:nv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664500" name="Прямая соединительная линия 36">
            <a:extLst>
              <a:ext uri="{FF2B5EF4-FFF2-40B4-BE49-F238E27FC236}">
                <a16:creationId xmlns:a16="http://schemas.microsoft.com/office/drawing/2014/main" id="{B9FB534B-DF89-4008-A203-80408D59BC4B}"/>
              </a:ext>
            </a:extLst>
          </p:cNvPr>
          <p:cNvSpPr>
            <a:spLocks noGrp="1"/>
          </p:cNvSpPr>
          <p:nvPr/>
        </p:nv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05829465" name="Прямая соединительная линия 37">
            <a:extLst>
              <a:ext uri="{FF2B5EF4-FFF2-40B4-BE49-F238E27FC236}">
                <a16:creationId xmlns:a16="http://schemas.microsoft.com/office/drawing/2014/main" id="{6D485B4F-5D55-497B-A3CB-BC0E160F5D26}"/>
              </a:ext>
            </a:extLst>
          </p:cNvPr>
          <p:cNvSpPr>
            <a:spLocks noGrp="1"/>
          </p:cNvSpPr>
          <p:nvPr/>
        </p:nv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2336023" name="Прямая соединительная линия 38">
            <a:extLst>
              <a:ext uri="{FF2B5EF4-FFF2-40B4-BE49-F238E27FC236}">
                <a16:creationId xmlns:a16="http://schemas.microsoft.com/office/drawing/2014/main" id="{B0D9170A-0269-48D0-8BAF-026F638CB3E7}"/>
              </a:ext>
            </a:extLst>
          </p:cNvPr>
          <p:cNvSpPr>
            <a:spLocks noGrp="1"/>
          </p:cNvSpPr>
          <p:nvPr/>
        </p:nv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6998851" name="Прямая соединительная линия 39">
            <a:extLst>
              <a:ext uri="{FF2B5EF4-FFF2-40B4-BE49-F238E27FC236}">
                <a16:creationId xmlns:a16="http://schemas.microsoft.com/office/drawing/2014/main" id="{FA2055B8-8EED-4278-AEF2-CC7F65C42214}"/>
              </a:ext>
            </a:extLst>
          </p:cNvPr>
          <p:cNvSpPr>
            <a:spLocks noGrp="1"/>
          </p:cNvSpPr>
          <p:nvPr/>
        </p:nv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937511" name="Прямая соединительная линия 40">
            <a:extLst>
              <a:ext uri="{FF2B5EF4-FFF2-40B4-BE49-F238E27FC236}">
                <a16:creationId xmlns:a16="http://schemas.microsoft.com/office/drawing/2014/main" id="{546A02D4-6851-4267-B1E6-88C68F0BA296}"/>
              </a:ext>
            </a:extLst>
          </p:cNvPr>
          <p:cNvSpPr>
            <a:spLocks noGrp="1"/>
          </p:cNvSpPr>
          <p:nvPr/>
        </p:nv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7810320" name="Прямая соединительная линия 41">
            <a:extLst>
              <a:ext uri="{FF2B5EF4-FFF2-40B4-BE49-F238E27FC236}">
                <a16:creationId xmlns:a16="http://schemas.microsoft.com/office/drawing/2014/main" id="{CBA4F9B3-F47F-4D39-8B38-721DDCAB9E44}"/>
              </a:ext>
            </a:extLst>
          </p:cNvPr>
          <p:cNvSpPr>
            <a:spLocks noGrp="1"/>
          </p:cNvSpPr>
          <p:nvPr/>
        </p:nv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8751272" name="Скругленный прямоугольник 42">
            <a:extLst>
              <a:ext uri="{FF2B5EF4-FFF2-40B4-BE49-F238E27FC236}">
                <a16:creationId xmlns:a16="http://schemas.microsoft.com/office/drawing/2014/main" id="{CF231F77-CDCF-49A7-9FE8-9D1867243233}"/>
              </a:ext>
            </a:extLst>
          </p:cNvPr>
          <p:cNvSpPr>
            <a:spLocks noGrp="1"/>
          </p:cNvSpPr>
          <p:nvPr/>
        </p:nvSpPr>
        <p:spPr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812859897" name="Скругленный прямоугольник 43">
            <a:extLst>
              <a:ext uri="{FF2B5EF4-FFF2-40B4-BE49-F238E27FC236}">
                <a16:creationId xmlns:a16="http://schemas.microsoft.com/office/drawing/2014/main" id="{37D87DB0-31F2-446F-8DE7-424D71D10562}"/>
              </a:ext>
            </a:extLst>
          </p:cNvPr>
          <p:cNvSpPr>
            <a:spLocks noGrp="1"/>
          </p:cNvSpPr>
          <p:nvPr/>
        </p:nvSpPr>
        <p:spPr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108934526" name="Скругленный прямоугольник 44">
            <a:extLst>
              <a:ext uri="{FF2B5EF4-FFF2-40B4-BE49-F238E27FC236}">
                <a16:creationId xmlns:a16="http://schemas.microsoft.com/office/drawing/2014/main" id="{CC439717-08AA-4BF8-8535-722CE7ADE0E0}"/>
              </a:ext>
            </a:extLst>
          </p:cNvPr>
          <p:cNvSpPr>
            <a:spLocks noGrp="1"/>
          </p:cNvSpPr>
          <p:nvPr/>
        </p:nvSpPr>
        <p:spPr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1741896490" name="Скругленный прямоугольник 52">
            <a:extLst>
              <a:ext uri="{FF2B5EF4-FFF2-40B4-BE49-F238E27FC236}">
                <a16:creationId xmlns:a16="http://schemas.microsoft.com/office/drawing/2014/main" id="{B11E4735-E292-417C-AB3C-96FBF76ED5F2}"/>
              </a:ext>
            </a:extLst>
          </p:cNvPr>
          <p:cNvSpPr>
            <a:spLocks noGrp="1"/>
          </p:cNvSpPr>
          <p:nvPr/>
        </p:nvSpPr>
        <p:spPr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1007682587" name="Скругленный прямоугольник 53">
            <a:extLst>
              <a:ext uri="{FF2B5EF4-FFF2-40B4-BE49-F238E27FC236}">
                <a16:creationId xmlns:a16="http://schemas.microsoft.com/office/drawing/2014/main" id="{54B6BCE1-405A-469F-AC68-C02A319B4119}"/>
              </a:ext>
            </a:extLst>
          </p:cNvPr>
          <p:cNvSpPr>
            <a:spLocks noGrp="1"/>
          </p:cNvSpPr>
          <p:nvPr/>
        </p:nvSpPr>
        <p:spPr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475492823" name="Заголовок 13">
            <a:extLst>
              <a:ext uri="{FF2B5EF4-FFF2-40B4-BE49-F238E27FC236}">
                <a16:creationId xmlns:a16="http://schemas.microsoft.com/office/drawing/2014/main" id="{4AC444F8-A2CC-46E8-98AC-7BE9F4E7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t>ПУТЬ ОПЕРАТОРА</a:t>
            </a:r>
          </a:p>
        </p:txBody>
      </p:sp>
      <p:sp>
        <p:nvSpPr>
          <p:cNvPr id="1473606708" name="Скругленный прямоугольник 13">
            <a:extLst>
              <a:ext uri="{FF2B5EF4-FFF2-40B4-BE49-F238E27FC236}">
                <a16:creationId xmlns:a16="http://schemas.microsoft.com/office/drawing/2014/main" id="{650A4214-FB78-433C-B4B1-E03ACD048E9C}"/>
              </a:ext>
            </a:extLst>
          </p:cNvPr>
          <p:cNvSpPr>
            <a:spLocks noGrp="1"/>
          </p:cNvSpPr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6179979" name="Скругленный прямоугольник 15">
            <a:extLst>
              <a:ext uri="{FF2B5EF4-FFF2-40B4-BE49-F238E27FC236}">
                <a16:creationId xmlns:a16="http://schemas.microsoft.com/office/drawing/2014/main" id="{71481603-7CA9-4036-B99B-D1742455CB72}"/>
              </a:ext>
            </a:extLst>
          </p:cNvPr>
          <p:cNvSpPr>
            <a:spLocks noGrp="1"/>
          </p:cNvSpPr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05368717" name="Скругленный прямоугольник 16">
            <a:extLst>
              <a:ext uri="{FF2B5EF4-FFF2-40B4-BE49-F238E27FC236}">
                <a16:creationId xmlns:a16="http://schemas.microsoft.com/office/drawing/2014/main" id="{C351E3DD-2601-41A4-A2DA-F093BA94A52E}"/>
              </a:ext>
            </a:extLst>
          </p:cNvPr>
          <p:cNvSpPr>
            <a:spLocks noGrp="1"/>
          </p:cNvSpPr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93685711" name="Скругленный прямоугольник 17">
            <a:extLst>
              <a:ext uri="{FF2B5EF4-FFF2-40B4-BE49-F238E27FC236}">
                <a16:creationId xmlns:a16="http://schemas.microsoft.com/office/drawing/2014/main" id="{734A3730-7272-484F-A700-51121D7EF477}"/>
              </a:ext>
            </a:extLst>
          </p:cNvPr>
          <p:cNvSpPr>
            <a:spLocks noGrp="1"/>
          </p:cNvSpPr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24313899" name="Скругленный прямоугольник 18">
            <a:extLst>
              <a:ext uri="{FF2B5EF4-FFF2-40B4-BE49-F238E27FC236}">
                <a16:creationId xmlns:a16="http://schemas.microsoft.com/office/drawing/2014/main" id="{DE7F75AD-2B5F-419C-BC5E-08FF8995FFDE}"/>
              </a:ext>
            </a:extLst>
          </p:cNvPr>
          <p:cNvSpPr>
            <a:spLocks noGrp="1"/>
          </p:cNvSpPr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402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lIns="0" tIns="0" rIns="0" bIns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20978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 wrap="square" anchor="t"/>
          <a:lstStyle/>
          <a:p>
            <a:pPr algn="l">
              <a:buNone/>
            </a:pPr>
            <a:r>
              <a:rPr sz="2200" b="1">
                <a:solidFill>
                  <a:srgbClr val="520978"/>
                </a:solidFill>
                <a:latin typeface="Montserrat"/>
              </a:rPr>
              <a:t>0.8361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 wrap="square" anchor="t"/>
          <a:lstStyle/>
          <a:p>
            <a:pPr algn="l">
              <a:buNone/>
            </a:pPr>
            <a:r>
              <a:rPr sz="1220" b="0">
                <a:solidFill>
                  <a:srgbClr val="1C1D22"/>
                </a:solidFill>
                <a:latin typeface="Montserrat"/>
              </a:rPr>
              <a:t>mAP@10 · 5 locked seeds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 wrap="square" anchor="t"/>
          <a:lstStyle/>
          <a:p>
            <a:pPr algn="l">
              <a:buNone/>
            </a:pPr>
            <a:r>
              <a:rPr sz="2200" b="1">
                <a:solidFill>
                  <a:srgbClr val="520978"/>
                </a:solidFill>
                <a:latin typeface="Montserrat"/>
              </a:rPr>
              <a:t>0.8048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 wrap="square" anchor="t"/>
          <a:lstStyle/>
          <a:p>
            <a:pPr algn="l">
              <a:buNone/>
            </a:pPr>
            <a:r>
              <a:rPr sz="1220" b="0">
                <a:solidFill>
                  <a:srgbClr val="1C1D22"/>
                </a:solidFill>
                <a:latin typeface="Montserrat"/>
              </a:rPr>
              <a:t>Rank‑1 · retrieval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 wrap="square" anchor="t"/>
          <a:lstStyle/>
          <a:p>
            <a:pPr algn="l">
              <a:buNone/>
            </a:pPr>
            <a:r>
              <a:rPr sz="2200" b="1">
                <a:solidFill>
                  <a:srgbClr val="520978"/>
                </a:solidFill>
                <a:latin typeface="Montserrat"/>
              </a:rPr>
              <a:t>0.9263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 wrap="square" anchor="t"/>
          <a:lstStyle/>
          <a:p>
            <a:pPr algn="l">
              <a:buNone/>
            </a:pPr>
            <a:r>
              <a:rPr sz="1220" b="0">
                <a:solidFill>
                  <a:srgbClr val="1C1D22"/>
                </a:solidFill>
                <a:latin typeface="Montserrat"/>
              </a:rPr>
              <a:t>Rank‑5 · retrieval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 wrap="square" anchor="t"/>
          <a:lstStyle/>
          <a:p>
            <a:pPr algn="l">
              <a:buNone/>
            </a:pPr>
            <a:r>
              <a:rPr sz="2200" b="1">
                <a:solidFill>
                  <a:srgbClr val="520978"/>
                </a:solidFill>
                <a:latin typeface="Montserrat"/>
              </a:rPr>
              <a:t>0.8361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 wrap="square" anchor="t"/>
          <a:lstStyle/>
          <a:p>
            <a:pPr algn="l">
              <a:buNone/>
            </a:pPr>
            <a:r>
              <a:rPr sz="1220" b="0">
                <a:solidFill>
                  <a:srgbClr val="1C1D22"/>
                </a:solidFill>
                <a:latin typeface="Montserrat"/>
              </a:rPr>
              <a:t>F1 · 20% unknown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 wrap="square" anchor="t"/>
          <a:lstStyle/>
          <a:p>
            <a:pPr algn="l">
              <a:buNone/>
            </a:pPr>
            <a:r>
              <a:rPr sz="2200" b="1">
                <a:solidFill>
                  <a:srgbClr val="520978"/>
                </a:solidFill>
                <a:latin typeface="Montserrat"/>
              </a:rPr>
              <a:t>0.9516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 wrap="square" anchor="t"/>
          <a:lstStyle/>
          <a:p>
            <a:pPr algn="l">
              <a:buNone/>
            </a:pPr>
            <a:r>
              <a:rPr sz="1220" b="0">
                <a:solidFill>
                  <a:srgbClr val="1C1D22"/>
                </a:solidFill>
                <a:latin typeface="Montserrat"/>
              </a:rPr>
              <a:t>TNR · confirmation seeds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 wrap="square" anchor="t"/>
          <a:lstStyle/>
          <a:p>
            <a:pPr algn="l">
              <a:buNone/>
            </a:pPr>
            <a:r>
              <a:rPr sz="2200" b="1">
                <a:solidFill>
                  <a:srgbClr val="520978"/>
                </a:solidFill>
                <a:latin typeface="Montserrat"/>
              </a:rPr>
              <a:t>0.8708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 wrap="square" anchor="t"/>
          <a:lstStyle/>
          <a:p>
            <a:pPr algn="l">
              <a:buNone/>
            </a:pPr>
            <a:r>
              <a:rPr sz="1220" b="0">
                <a:solidFill>
                  <a:srgbClr val="1C1D22"/>
                </a:solidFill>
                <a:latin typeface="Montserrat"/>
              </a:rPr>
              <a:t>0.7 × F1 + 0.3 × TNR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64" y="466681"/>
            <a:ext cx="9862734" cy="376138"/>
          </a:xfrm>
        </p:spPr>
        <p:txBody>
          <a:bodyPr wrap="square" anchor="t"/>
          <a:lstStyle/>
          <a:p>
            <a:pPr algn="l">
              <a:buNone/>
            </a:pPr>
            <a:r>
              <a:rPr sz="1900" b="1" dirty="0">
                <a:solidFill>
                  <a:srgbClr val="FFFFFF"/>
                </a:solidFill>
                <a:latin typeface="Montserrat"/>
              </a:rPr>
              <a:t>КАЧЕСТВО И OPEN-SET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 wrap="square" anchor="t"/>
          <a:lstStyle/>
          <a:p>
            <a:pPr algn="l">
              <a:buNone/>
            </a:pPr>
            <a:r>
              <a:rPr sz="1300" b="1">
                <a:solidFill>
                  <a:srgbClr val="FF0053"/>
                </a:solidFill>
                <a:latin typeface="Montserrat"/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 wrap="square" anchor="t"/>
          <a:lstStyle/>
          <a:p>
            <a:pPr algn="l">
              <a:buNone/>
            </a:pPr>
            <a:r>
              <a:rPr sz="1300" b="1">
                <a:solidFill>
                  <a:srgbClr val="FF0053"/>
                </a:solidFill>
                <a:latin typeface="Montserrat"/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 wrap="square" anchor="t"/>
          <a:lstStyle/>
          <a:p>
            <a:pPr algn="l">
              <a:buNone/>
            </a:pPr>
            <a:r>
              <a:rPr sz="1300" b="1">
                <a:solidFill>
                  <a:srgbClr val="FF0053"/>
                </a:solidFill>
                <a:latin typeface="Montserrat"/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 wrap="square" anchor="t"/>
          <a:lstStyle/>
          <a:p>
            <a:pPr algn="l">
              <a:buNone/>
            </a:pPr>
            <a:r>
              <a:rPr sz="1300" b="1">
                <a:solidFill>
                  <a:srgbClr val="FF0053"/>
                </a:solidFill>
                <a:latin typeface="Montserrat"/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 wrap="square" anchor="t"/>
          <a:lstStyle/>
          <a:p>
            <a:pPr algn="l">
              <a:buNone/>
            </a:pPr>
            <a:r>
              <a:rPr sz="1300" b="1">
                <a:solidFill>
                  <a:srgbClr val="FF0053"/>
                </a:solidFill>
                <a:latin typeface="Montserrat"/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 wrap="square" anchor="t"/>
          <a:lstStyle/>
          <a:p>
            <a:pPr algn="l">
              <a:buNone/>
            </a:pPr>
            <a:r>
              <a:rPr sz="1300" b="1">
                <a:solidFill>
                  <a:srgbClr val="FF0053"/>
                </a:solidFill>
                <a:latin typeface="Montserrat"/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416534" y="1065601"/>
            <a:ext cx="3359599" cy="1398199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416533" y="2792251"/>
            <a:ext cx="3359599" cy="1398199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416532" y="4515233"/>
            <a:ext cx="3359599" cy="1398199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6059568" y="1061509"/>
            <a:ext cx="3359599" cy="1398199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6045853" y="2792468"/>
            <a:ext cx="3359599" cy="1398199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6045852" y="4515232"/>
            <a:ext cx="3359599" cy="1398199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563191" name="Скругленный прямоугольник 1">
            <a:extLst>
              <a:ext uri="{FF2B5EF4-FFF2-40B4-BE49-F238E27FC236}">
                <a16:creationId xmlns:a16="http://schemas.microsoft.com/office/drawing/2014/main" id="{242AF9A2-5BEA-4A09-87BF-EE12FCE62F0C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272598994" name="Номер слайда 6">
            <a:extLst>
              <a:ext uri="{FF2B5EF4-FFF2-40B4-BE49-F238E27FC236}">
                <a16:creationId xmlns:a16="http://schemas.microsoft.com/office/drawing/2014/main" id="{6B11EB51-ADA3-4A2B-A91C-052C9A24D28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11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31907353" name="Рисунок 2">
            <a:extLst>
              <a:ext uri="{FF2B5EF4-FFF2-40B4-BE49-F238E27FC236}">
                <a16:creationId xmlns:a16="http://schemas.microsoft.com/office/drawing/2014/main" id="{D3FE6E0D-768E-42F4-A663-5534E66B7F6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prstGeom prst="roundRect">
            <a:avLst>
              <a:gd name="adj" fmla="val 6127"/>
            </a:avLst>
          </a:prstGeom>
        </p:spPr>
      </p:sp>
      <p:sp>
        <p:nvSpPr>
          <p:cNvPr id="1171953778" name="Рисунок 3">
            <a:extLst>
              <a:ext uri="{FF2B5EF4-FFF2-40B4-BE49-F238E27FC236}">
                <a16:creationId xmlns:a16="http://schemas.microsoft.com/office/drawing/2014/main" id="{B2184B8C-4F66-42D9-B873-9E614FE3FFAB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prstGeom prst="roundRect">
            <a:avLst>
              <a:gd name="adj" fmla="val 11783"/>
            </a:avLst>
          </a:prstGeom>
        </p:spPr>
      </p:sp>
      <p:sp>
        <p:nvSpPr>
          <p:cNvPr id="1604742068" name="Рисунок 4">
            <a:extLst>
              <a:ext uri="{FF2B5EF4-FFF2-40B4-BE49-F238E27FC236}">
                <a16:creationId xmlns:a16="http://schemas.microsoft.com/office/drawing/2014/main" id="{B0A4A466-C291-4B4A-9B12-93050B7E3328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prstGeom prst="roundRect">
            <a:avLst>
              <a:gd name="adj" fmla="val 7254"/>
            </a:avLst>
          </a:prstGeom>
        </p:spPr>
      </p:sp>
      <p:sp>
        <p:nvSpPr>
          <p:cNvPr id="536582654" name="Текст 5">
            <a:extLst>
              <a:ext uri="{FF2B5EF4-FFF2-40B4-BE49-F238E27FC236}">
                <a16:creationId xmlns:a16="http://schemas.microsoft.com/office/drawing/2014/main" id="{9BB35801-6CE3-4018-8A3D-242482BEEFD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Синий — query; красный — ошибочный top‑1; зелёный — верный cross-camera кадр. Три реальные ошибки locked validation (seed 101): во всех правильный ответ уже на позиции №2. Это ошибка тонкого порядка визуально близких машин, а не отсутствие positive в shortlist.</a:t>
            </a:r>
          </a:p>
        </p:txBody>
      </p:sp>
      <p:sp>
        <p:nvSpPr>
          <p:cNvPr id="1196856292" name="Заголовок 13">
            <a:extLst>
              <a:ext uri="{FF2B5EF4-FFF2-40B4-BE49-F238E27FC236}">
                <a16:creationId xmlns:a16="http://schemas.microsoft.com/office/drawing/2014/main" id="{3316A5B7-BFDB-44BF-8D4A-614255B4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227" y="550831"/>
            <a:ext cx="2775523" cy="376138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dirty="0"/>
              <a:t>ЧЕСТНЫЙ АНАЛИЗ ОШИБОК</a:t>
            </a:r>
          </a:p>
        </p:txBody>
      </p:sp>
      <p:pic>
        <p:nvPicPr>
          <p:cNvPr id="1604742069" name="Picture 1604742068" descr="error_cas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43" y="3721837"/>
            <a:ext cx="6806184" cy="1981027"/>
          </a:xfrm>
          <a:prstGeom prst="rect">
            <a:avLst/>
          </a:prstGeom>
        </p:spPr>
      </p:pic>
      <p:pic>
        <p:nvPicPr>
          <p:cNvPr id="1604742070" name="Picture 1604742069" descr="error_cas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168" y="1914091"/>
            <a:ext cx="4405789" cy="1282361"/>
          </a:xfrm>
          <a:prstGeom prst="rect">
            <a:avLst/>
          </a:prstGeom>
        </p:spPr>
      </p:pic>
      <p:pic>
        <p:nvPicPr>
          <p:cNvPr id="1604742071" name="Picture 1604742070" descr="error_cas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0168" y="4653767"/>
            <a:ext cx="4405789" cy="128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46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>
            <a:extLst>
              <a:ext uri="{FF2B5EF4-FFF2-40B4-BE49-F238E27FC236}">
                <a16:creationId xmlns:a16="http://schemas.microsoft.com/office/drawing/2014/main" id="{0B6E3F60-8E53-454D-A762-1FE0158C16D0}"/>
              </a:ext>
            </a:extLst>
          </p:cNvPr>
          <p:cNvSpPr>
            <a:spLocks noGrp="1"/>
          </p:cNvSpPr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150671869" name="Скругленный прямоугольник 11">
            <a:extLst>
              <a:ext uri="{FF2B5EF4-FFF2-40B4-BE49-F238E27FC236}">
                <a16:creationId xmlns:a16="http://schemas.microsoft.com/office/drawing/2014/main" id="{1C692ED3-9369-4C51-B8C0-BB2C1A638803}"/>
              </a:ext>
            </a:extLst>
          </p:cNvPr>
          <p:cNvSpPr>
            <a:spLocks noGrp="1"/>
          </p:cNvSpPr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19896725" name="Скругленный прямоугольник 10">
            <a:extLst>
              <a:ext uri="{FF2B5EF4-FFF2-40B4-BE49-F238E27FC236}">
                <a16:creationId xmlns:a16="http://schemas.microsoft.com/office/drawing/2014/main" id="{A60E1FE1-D6EA-4D52-8DF2-450D68BCB989}"/>
              </a:ext>
            </a:extLst>
          </p:cNvPr>
          <p:cNvSpPr>
            <a:spLocks noGrp="1"/>
          </p:cNvSpPr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005219055" name="Скругленный прямоугольник 1">
            <a:extLst>
              <a:ext uri="{FF2B5EF4-FFF2-40B4-BE49-F238E27FC236}">
                <a16:creationId xmlns:a16="http://schemas.microsoft.com/office/drawing/2014/main" id="{0F6D39EC-C779-4ACB-B16F-6C3997CBC207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706338296" name="Номер слайда 8">
            <a:extLst>
              <a:ext uri="{FF2B5EF4-FFF2-40B4-BE49-F238E27FC236}">
                <a16:creationId xmlns:a16="http://schemas.microsoft.com/office/drawing/2014/main" id="{A52E35CD-FE89-497B-B434-CC3C06691DFD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12</a:t>
            </a:r>
          </a:p>
        </p:txBody>
      </p:sp>
      <p:sp>
        <p:nvSpPr>
          <p:cNvPr id="1233537166" name="Текст 2">
            <a:extLst>
              <a:ext uri="{FF2B5EF4-FFF2-40B4-BE49-F238E27FC236}">
                <a16:creationId xmlns:a16="http://schemas.microsoft.com/office/drawing/2014/main" id="{78331233-4411-4366-903D-ECDDAAF0F25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62.2%</a:t>
            </a:r>
          </a:p>
        </p:txBody>
      </p:sp>
      <p:sp>
        <p:nvSpPr>
          <p:cNvPr id="474682657" name="Текст 3">
            <a:extLst>
              <a:ext uri="{FF2B5EF4-FFF2-40B4-BE49-F238E27FC236}">
                <a16:creationId xmlns:a16="http://schemas.microsoft.com/office/drawing/2014/main" id="{E1A95123-9CA0-4DBA-9947-90BAF2A4069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591637" y="1649793"/>
            <a:ext cx="4790314" cy="779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689 из 1107 Rank‑1 ошибок по 5 locked seeds: правильный кадр уже на местах 2–5 — главная цель короткого reranker.</a:t>
            </a:r>
          </a:p>
        </p:txBody>
      </p:sp>
      <p:sp>
        <p:nvSpPr>
          <p:cNvPr id="802416208" name="Текст 4">
            <a:extLst>
              <a:ext uri="{FF2B5EF4-FFF2-40B4-BE49-F238E27FC236}">
                <a16:creationId xmlns:a16="http://schemas.microsoft.com/office/drawing/2014/main" id="{B99CDBFF-66FF-4B53-A352-28D6EB4D239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15.9%</a:t>
            </a:r>
          </a:p>
        </p:txBody>
      </p:sp>
      <p:sp>
        <p:nvSpPr>
          <p:cNvPr id="309289454" name="Текст 5">
            <a:extLst>
              <a:ext uri="{FF2B5EF4-FFF2-40B4-BE49-F238E27FC236}">
                <a16:creationId xmlns:a16="http://schemas.microsoft.com/office/drawing/2014/main" id="{A187B18F-6093-4E8B-877F-3C8A204F70E2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591637" y="3515862"/>
            <a:ext cx="4790314" cy="869021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176 случаев: правильный кандидат найден, но находится на местах 6–10.</a:t>
            </a:r>
          </a:p>
        </p:txBody>
      </p:sp>
      <p:sp>
        <p:nvSpPr>
          <p:cNvPr id="121864844" name="Текст 6">
            <a:extLst>
              <a:ext uri="{FF2B5EF4-FFF2-40B4-BE49-F238E27FC236}">
                <a16:creationId xmlns:a16="http://schemas.microsoft.com/office/drawing/2014/main" id="{1B748DD8-ED2F-4E27-AA56-6125AD33B1F5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21.9%</a:t>
            </a:r>
          </a:p>
        </p:txBody>
      </p:sp>
      <p:sp>
        <p:nvSpPr>
          <p:cNvPr id="723791391" name="Текст 7">
            <a:extLst>
              <a:ext uri="{FF2B5EF4-FFF2-40B4-BE49-F238E27FC236}">
                <a16:creationId xmlns:a16="http://schemas.microsoft.com/office/drawing/2014/main" id="{2638B704-2DDA-4168-9FA6-E9FC01CD2CAA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591637" y="5471798"/>
            <a:ext cx="4790314" cy="848014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242 случая: правильного ответа нет в top‑10; здесь нужен более сильный initial retrieval.</a:t>
            </a:r>
          </a:p>
        </p:txBody>
      </p:sp>
      <p:graphicFrame>
        <p:nvGraphicFramePr>
          <p:cNvPr id="1706338309" name="Диаграмма 9"/>
          <p:cNvGraphicFramePr/>
          <p:nvPr>
            <p:extLst>
              <p:ext uri="{D42A27DB-BD31-4B8C-83A1-F6EECF244321}">
                <p14:modId xmlns:p14="http://schemas.microsoft.com/office/powerpoint/2010/main" val="3323346620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8142109" name="Заголовок 13">
            <a:extLst>
              <a:ext uri="{FF2B5EF4-FFF2-40B4-BE49-F238E27FC236}">
                <a16:creationId xmlns:a16="http://schemas.microsoft.com/office/drawing/2014/main" id="{634EECCA-4C35-421A-AC48-4779D372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65" y="541387"/>
            <a:ext cx="2763648" cy="376138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dirty="0"/>
              <a:t>ГДЕ ТЕРЯЕТСЯ RANK‑1</a:t>
            </a:r>
          </a:p>
        </p:txBody>
      </p:sp>
    </p:spTree>
    <p:extLst>
      <p:ext uri="{BB962C8B-B14F-4D97-AF65-F5344CB8AC3E}">
        <p14:creationId xmlns:p14="http://schemas.microsoft.com/office/powerpoint/2010/main" val="2069775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>
            <a:extLst>
              <a:ext uri="{FF2B5EF4-FFF2-40B4-BE49-F238E27FC236}">
                <a16:creationId xmlns:a16="http://schemas.microsoft.com/office/drawing/2014/main" id="{93B85D2D-81AA-4C08-BBD9-2EC0AC90545D}"/>
              </a:ext>
            </a:extLst>
          </p:cNvPr>
          <p:cNvSpPr>
            <a:spLocks noGrp="1"/>
          </p:cNvSpPr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295246643" name="Скругленный прямоугольник 9">
            <a:extLst>
              <a:ext uri="{FF2B5EF4-FFF2-40B4-BE49-F238E27FC236}">
                <a16:creationId xmlns:a16="http://schemas.microsoft.com/office/drawing/2014/main" id="{57B7FEF8-05AF-400C-93EA-F6C052E1F675}"/>
              </a:ext>
            </a:extLst>
          </p:cNvPr>
          <p:cNvSpPr>
            <a:spLocks noGrp="1"/>
          </p:cNvSpPr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66709802" name="Скругленный прямоугольник 10">
            <a:extLst>
              <a:ext uri="{FF2B5EF4-FFF2-40B4-BE49-F238E27FC236}">
                <a16:creationId xmlns:a16="http://schemas.microsoft.com/office/drawing/2014/main" id="{058A39A5-3A38-4996-B1B8-DEC3C3F65F06}"/>
              </a:ext>
            </a:extLst>
          </p:cNvPr>
          <p:cNvSpPr>
            <a:spLocks noGrp="1"/>
          </p:cNvSpPr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3486554" name="Скругленный прямоугольник 1">
            <a:extLst>
              <a:ext uri="{FF2B5EF4-FFF2-40B4-BE49-F238E27FC236}">
                <a16:creationId xmlns:a16="http://schemas.microsoft.com/office/drawing/2014/main" id="{6ECB9BA9-37C2-40B4-998F-A3D8A64A66B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9171090" name="Скругленный прямоугольник 16">
            <a:extLst>
              <a:ext uri="{FF2B5EF4-FFF2-40B4-BE49-F238E27FC236}">
                <a16:creationId xmlns:a16="http://schemas.microsoft.com/office/drawing/2014/main" id="{91BAA042-4E92-491D-BB50-A95FE325E8B5}"/>
              </a:ext>
            </a:extLst>
          </p:cNvPr>
          <p:cNvSpPr>
            <a:spLocks noGrp="1"/>
          </p:cNvSpPr>
          <p:nvPr/>
        </p:nvSpPr>
        <p:spPr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64567495" name="Скругленный прямоугольник 6">
            <a:extLst>
              <a:ext uri="{FF2B5EF4-FFF2-40B4-BE49-F238E27FC236}">
                <a16:creationId xmlns:a16="http://schemas.microsoft.com/office/drawing/2014/main" id="{4CF04BDE-BAFB-4D10-B1C1-3749C0994697}"/>
              </a:ext>
            </a:extLst>
          </p:cNvPr>
          <p:cNvSpPr>
            <a:spLocks noGrp="1"/>
          </p:cNvSpPr>
          <p:nvPr/>
        </p:nvSpPr>
        <p:spPr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828869434" name="Номер слайда 5">
            <a:extLst>
              <a:ext uri="{FF2B5EF4-FFF2-40B4-BE49-F238E27FC236}">
                <a16:creationId xmlns:a16="http://schemas.microsoft.com/office/drawing/2014/main" id="{4D4493D6-1173-486F-B2F7-E0DFB17C3DC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13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30935763" name="Текст 2">
            <a:extLst>
              <a:ext uri="{FF2B5EF4-FFF2-40B4-BE49-F238E27FC236}">
                <a16:creationId xmlns:a16="http://schemas.microsoft.com/office/drawing/2014/main" id="{2D27E6E4-FD9B-4F9C-9197-80A35FB00A9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ЧТО ОЦЕНИВАЕМ</a:t>
            </a:r>
          </a:p>
          <a:p>
            <a:pPr>
              <a:buNone/>
            </a:pPr>
            <a:r>
              <a:rPr>
                <a:solidFill>
                  <a:srgbClr val="2D1451"/>
                </a:solidFill>
              </a:rPr>
              <a:t>Вероятность корректности финального top‑1 по восьми score/margin/density сигналам.</a:t>
            </a:r>
          </a:p>
        </p:txBody>
      </p:sp>
      <p:sp>
        <p:nvSpPr>
          <p:cNvPr id="1021543870" name="Текст 3">
            <a:extLst>
              <a:ext uri="{FF2B5EF4-FFF2-40B4-BE49-F238E27FC236}">
                <a16:creationId xmlns:a16="http://schemas.microsoft.com/office/drawing/2014/main" id="{0B821ABF-0EB3-49ED-9B1A-E1DC6A47602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КАК КАЛИБРУЕМ</a:t>
            </a:r>
          </a:p>
          <a:p>
            <a:pPr>
              <a:buNone/>
            </a:pPr>
            <a:r>
              <a:rPr>
                <a:solidFill>
                  <a:srgbClr val="2D1451"/>
                </a:solidFill>
              </a:rPr>
              <a:t>20.13% unknown; group‑OOF; threshold 0.630795 при ограничении TNR ≥ 0.94.</a:t>
            </a:r>
          </a:p>
        </p:txBody>
      </p:sp>
      <p:sp>
        <p:nvSpPr>
          <p:cNvPr id="1109396534" name="Текст 4">
            <a:extLst>
              <a:ext uri="{FF2B5EF4-FFF2-40B4-BE49-F238E27FC236}">
                <a16:creationId xmlns:a16="http://schemas.microsoft.com/office/drawing/2014/main" id="{77AEB803-DFB3-4F78-AEF5-B18A2C44926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РЕЗУЛЬТАТ</a:t>
            </a:r>
          </a:p>
          <a:p>
            <a:pPr>
              <a:buNone/>
            </a:pPr>
            <a:r>
              <a:rPr>
                <a:solidFill>
                  <a:srgbClr val="2D1451"/>
                </a:solidFill>
              </a:rPr>
              <a:t>F1 0.836127; TNR 0.951613; score 0.870773. Прирост к прошлой policy: +0.008196.</a:t>
            </a:r>
          </a:p>
        </p:txBody>
      </p:sp>
      <p:cxnSp>
        <p:nvCxnSpPr>
          <p:cNvPr id="1957439456" name="Google Shape;2799;p94"/>
          <p:cNvCxnSpPr/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2830;p94">
            <a:extLst>
              <a:ext uri="{FF2B5EF4-FFF2-40B4-BE49-F238E27FC236}">
                <a16:creationId xmlns:a16="http://schemas.microsoft.com/office/drawing/2014/main" id="{3ADC22A0-C771-4687-AB82-BB60181320A5}"/>
              </a:ext>
            </a:extLst>
          </p:cNvPr>
          <p:cNvSpPr>
            <a:spLocks noGrp="1"/>
          </p:cNvSpPr>
          <p:nvPr/>
        </p:nvSpPr>
        <p:spPr>
          <a:xfrm>
            <a:off x="1899087" y="1753233"/>
            <a:ext cx="738530" cy="687909"/>
          </a:xfrm>
          <a:custGeom>
            <a:avLst/>
            <a:gdLst/>
            <a:ahLst/>
            <a:cxnLst/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2831;p94">
            <a:extLst>
              <a:ext uri="{FF2B5EF4-FFF2-40B4-BE49-F238E27FC236}">
                <a16:creationId xmlns:a16="http://schemas.microsoft.com/office/drawing/2014/main" id="{501922AB-D0F7-4BBD-B68C-41017F543368}"/>
              </a:ext>
            </a:extLst>
          </p:cNvPr>
          <p:cNvSpPr>
            <a:spLocks noGrp="1"/>
          </p:cNvSpPr>
          <p:nvPr/>
        </p:nvSpPr>
        <p:spPr>
          <a:xfrm>
            <a:off x="1975553" y="1888385"/>
            <a:ext cx="311114" cy="244088"/>
          </a:xfrm>
          <a:custGeom>
            <a:avLst/>
            <a:gdLst/>
            <a:ahLst/>
            <a:cxnLst/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2832;p94">
            <a:extLst>
              <a:ext uri="{FF2B5EF4-FFF2-40B4-BE49-F238E27FC236}">
                <a16:creationId xmlns:a16="http://schemas.microsoft.com/office/drawing/2014/main" id="{196703E8-4C4B-4CDA-A776-AACC8CC34C87}"/>
              </a:ext>
            </a:extLst>
          </p:cNvPr>
          <p:cNvSpPr>
            <a:spLocks noGrp="1"/>
          </p:cNvSpPr>
          <p:nvPr/>
        </p:nvSpPr>
        <p:spPr>
          <a:xfrm>
            <a:off x="2041586" y="1938446"/>
            <a:ext cx="20941" cy="30065"/>
          </a:xfrm>
          <a:custGeom>
            <a:avLst/>
            <a:gdLst/>
            <a:ahLst/>
            <a:cxnLst/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2833;p94">
            <a:extLst>
              <a:ext uri="{FF2B5EF4-FFF2-40B4-BE49-F238E27FC236}">
                <a16:creationId xmlns:a16="http://schemas.microsoft.com/office/drawing/2014/main" id="{55FEFCB9-B950-4E6D-A26D-5CAA695B31AD}"/>
              </a:ext>
            </a:extLst>
          </p:cNvPr>
          <p:cNvSpPr>
            <a:spLocks noGrp="1"/>
          </p:cNvSpPr>
          <p:nvPr/>
        </p:nvSpPr>
        <p:spPr>
          <a:xfrm>
            <a:off x="2147601" y="1908454"/>
            <a:ext cx="22617" cy="30065"/>
          </a:xfrm>
          <a:custGeom>
            <a:avLst/>
            <a:gdLst/>
            <a:ahLst/>
            <a:cxnLst/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2834;p94">
            <a:extLst>
              <a:ext uri="{FF2B5EF4-FFF2-40B4-BE49-F238E27FC236}">
                <a16:creationId xmlns:a16="http://schemas.microsoft.com/office/drawing/2014/main" id="{7744B76A-7E2F-4647-AFE0-2BE9E0BEAC8C}"/>
              </a:ext>
            </a:extLst>
          </p:cNvPr>
          <p:cNvSpPr>
            <a:spLocks noGrp="1"/>
          </p:cNvSpPr>
          <p:nvPr/>
        </p:nvSpPr>
        <p:spPr>
          <a:xfrm>
            <a:off x="2248363" y="1843211"/>
            <a:ext cx="22691" cy="30065"/>
          </a:xfrm>
          <a:custGeom>
            <a:avLst/>
            <a:gdLst/>
            <a:ahLst/>
            <a:cxnLst/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2835;p94">
            <a:extLst>
              <a:ext uri="{FF2B5EF4-FFF2-40B4-BE49-F238E27FC236}">
                <a16:creationId xmlns:a16="http://schemas.microsoft.com/office/drawing/2014/main" id="{B47F7931-0525-4A4A-A688-A97F9D9A73C6}"/>
              </a:ext>
            </a:extLst>
          </p:cNvPr>
          <p:cNvSpPr>
            <a:spLocks noGrp="1"/>
          </p:cNvSpPr>
          <p:nvPr/>
        </p:nvSpPr>
        <p:spPr>
          <a:xfrm>
            <a:off x="1975553" y="1811440"/>
            <a:ext cx="59172" cy="21254"/>
          </a:xfrm>
          <a:custGeom>
            <a:avLst/>
            <a:gdLst/>
            <a:ahLst/>
            <a:cxnLst/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2836;p94">
            <a:extLst>
              <a:ext uri="{FF2B5EF4-FFF2-40B4-BE49-F238E27FC236}">
                <a16:creationId xmlns:a16="http://schemas.microsoft.com/office/drawing/2014/main" id="{A22304E9-8CB9-45F4-9FEA-19CA267AF650}"/>
              </a:ext>
            </a:extLst>
          </p:cNvPr>
          <p:cNvSpPr>
            <a:spLocks noGrp="1"/>
          </p:cNvSpPr>
          <p:nvPr/>
        </p:nvSpPr>
        <p:spPr>
          <a:xfrm>
            <a:off x="1975553" y="1852022"/>
            <a:ext cx="102586" cy="23030"/>
          </a:xfrm>
          <a:custGeom>
            <a:avLst/>
            <a:gdLst/>
            <a:ahLst/>
            <a:cxnLst/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2837;p94">
            <a:extLst>
              <a:ext uri="{FF2B5EF4-FFF2-40B4-BE49-F238E27FC236}">
                <a16:creationId xmlns:a16="http://schemas.microsoft.com/office/drawing/2014/main" id="{63E24310-775D-41A9-9D72-4EE6F8DE7104}"/>
              </a:ext>
            </a:extLst>
          </p:cNvPr>
          <p:cNvSpPr>
            <a:spLocks noGrp="1"/>
          </p:cNvSpPr>
          <p:nvPr/>
        </p:nvSpPr>
        <p:spPr>
          <a:xfrm>
            <a:off x="2451638" y="1846765"/>
            <a:ext cx="67855" cy="116416"/>
          </a:xfrm>
          <a:custGeom>
            <a:avLst/>
            <a:gdLst/>
            <a:ahLst/>
            <a:cxnLst/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2838;p94">
            <a:extLst>
              <a:ext uri="{FF2B5EF4-FFF2-40B4-BE49-F238E27FC236}">
                <a16:creationId xmlns:a16="http://schemas.microsoft.com/office/drawing/2014/main" id="{1CDDB715-7B95-462C-9967-13D266FAAD8E}"/>
              </a:ext>
            </a:extLst>
          </p:cNvPr>
          <p:cNvSpPr>
            <a:spLocks noGrp="1"/>
          </p:cNvSpPr>
          <p:nvPr/>
        </p:nvSpPr>
        <p:spPr>
          <a:xfrm>
            <a:off x="2394289" y="1811440"/>
            <a:ext cx="182552" cy="185289"/>
          </a:xfrm>
          <a:custGeom>
            <a:avLst/>
            <a:gdLst/>
            <a:ahLst/>
            <a:cxnLst/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2839;p94">
            <a:extLst>
              <a:ext uri="{FF2B5EF4-FFF2-40B4-BE49-F238E27FC236}">
                <a16:creationId xmlns:a16="http://schemas.microsoft.com/office/drawing/2014/main" id="{A70DD2A2-0340-45FA-8CF8-DF2336D71EAC}"/>
              </a:ext>
            </a:extLst>
          </p:cNvPr>
          <p:cNvSpPr>
            <a:spLocks noGrp="1"/>
          </p:cNvSpPr>
          <p:nvPr/>
        </p:nvSpPr>
        <p:spPr>
          <a:xfrm>
            <a:off x="2385607" y="2023092"/>
            <a:ext cx="99157" cy="23030"/>
          </a:xfrm>
          <a:custGeom>
            <a:avLst/>
            <a:gdLst/>
            <a:ahLst/>
            <a:cxnLst/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2840;p94">
            <a:extLst>
              <a:ext uri="{FF2B5EF4-FFF2-40B4-BE49-F238E27FC236}">
                <a16:creationId xmlns:a16="http://schemas.microsoft.com/office/drawing/2014/main" id="{1586897E-C8DB-4D8D-A6FC-CC336C6E5C38}"/>
              </a:ext>
            </a:extLst>
          </p:cNvPr>
          <p:cNvSpPr>
            <a:spLocks noGrp="1"/>
          </p:cNvSpPr>
          <p:nvPr/>
        </p:nvSpPr>
        <p:spPr>
          <a:xfrm>
            <a:off x="2519422" y="2067156"/>
            <a:ext cx="55670" cy="21254"/>
          </a:xfrm>
          <a:custGeom>
            <a:avLst/>
            <a:gdLst/>
            <a:ahLst/>
            <a:cxnLst/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2841;p94">
            <a:extLst>
              <a:ext uri="{FF2B5EF4-FFF2-40B4-BE49-F238E27FC236}">
                <a16:creationId xmlns:a16="http://schemas.microsoft.com/office/drawing/2014/main" id="{FFC49C6E-C848-4646-951F-A04CB5065129}"/>
              </a:ext>
            </a:extLst>
          </p:cNvPr>
          <p:cNvSpPr>
            <a:spLocks noGrp="1"/>
          </p:cNvSpPr>
          <p:nvPr/>
        </p:nvSpPr>
        <p:spPr>
          <a:xfrm>
            <a:off x="2385607" y="2067156"/>
            <a:ext cx="62675" cy="21254"/>
          </a:xfrm>
          <a:custGeom>
            <a:avLst/>
            <a:gdLst/>
            <a:ahLst/>
            <a:cxnLst/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2842;p94">
            <a:extLst>
              <a:ext uri="{FF2B5EF4-FFF2-40B4-BE49-F238E27FC236}">
                <a16:creationId xmlns:a16="http://schemas.microsoft.com/office/drawing/2014/main" id="{E0A6ABB4-1A4E-4C40-94DD-ABFCC867C194}"/>
              </a:ext>
            </a:extLst>
          </p:cNvPr>
          <p:cNvSpPr>
            <a:spLocks noGrp="1"/>
          </p:cNvSpPr>
          <p:nvPr/>
        </p:nvSpPr>
        <p:spPr>
          <a:xfrm>
            <a:off x="2463823" y="2067156"/>
            <a:ext cx="41806" cy="21254"/>
          </a:xfrm>
          <a:custGeom>
            <a:avLst/>
            <a:gdLst/>
            <a:ahLst/>
            <a:cxnLst/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2843;p94">
            <a:extLst>
              <a:ext uri="{FF2B5EF4-FFF2-40B4-BE49-F238E27FC236}">
                <a16:creationId xmlns:a16="http://schemas.microsoft.com/office/drawing/2014/main" id="{CD473C5C-0B88-480E-A2D4-0D32BB0F4424}"/>
              </a:ext>
            </a:extLst>
          </p:cNvPr>
          <p:cNvSpPr>
            <a:spLocks noGrp="1"/>
          </p:cNvSpPr>
          <p:nvPr/>
        </p:nvSpPr>
        <p:spPr>
          <a:xfrm>
            <a:off x="2385607" y="2109516"/>
            <a:ext cx="187734" cy="22957"/>
          </a:xfrm>
          <a:custGeom>
            <a:avLst/>
            <a:gdLst/>
            <a:ahLst/>
            <a:cxnLst/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2819;p94">
            <a:extLst>
              <a:ext uri="{FF2B5EF4-FFF2-40B4-BE49-F238E27FC236}">
                <a16:creationId xmlns:a16="http://schemas.microsoft.com/office/drawing/2014/main" id="{52E5E9FB-5D6C-452D-9239-4E6C5C313AD2}"/>
              </a:ext>
            </a:extLst>
          </p:cNvPr>
          <p:cNvSpPr>
            <a:spLocks noGrp="1"/>
          </p:cNvSpPr>
          <p:nvPr/>
        </p:nvSpPr>
        <p:spPr>
          <a:xfrm>
            <a:off x="6120541" y="1913934"/>
            <a:ext cx="38305" cy="28808"/>
          </a:xfrm>
          <a:custGeom>
            <a:avLst/>
            <a:gdLst/>
            <a:ahLst/>
            <a:cxnLst/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2820;p94">
            <a:extLst>
              <a:ext uri="{FF2B5EF4-FFF2-40B4-BE49-F238E27FC236}">
                <a16:creationId xmlns:a16="http://schemas.microsoft.com/office/drawing/2014/main" id="{C19D252E-028A-4E9C-A145-063B97090E68}"/>
              </a:ext>
            </a:extLst>
          </p:cNvPr>
          <p:cNvSpPr>
            <a:spLocks noGrp="1"/>
          </p:cNvSpPr>
          <p:nvPr/>
        </p:nvSpPr>
        <p:spPr>
          <a:xfrm>
            <a:off x="6097923" y="1873128"/>
            <a:ext cx="34876" cy="34287"/>
          </a:xfrm>
          <a:custGeom>
            <a:avLst/>
            <a:gdLst/>
            <a:ahLst/>
            <a:cxnLst/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2821;p94">
            <a:extLst>
              <a:ext uri="{FF2B5EF4-FFF2-40B4-BE49-F238E27FC236}">
                <a16:creationId xmlns:a16="http://schemas.microsoft.com/office/drawing/2014/main" id="{2E0700E6-BC62-488B-9195-35955F5A5CA1}"/>
              </a:ext>
            </a:extLst>
          </p:cNvPr>
          <p:cNvSpPr>
            <a:spLocks noGrp="1"/>
          </p:cNvSpPr>
          <p:nvPr/>
        </p:nvSpPr>
        <p:spPr>
          <a:xfrm>
            <a:off x="6129223" y="1960292"/>
            <a:ext cx="38305" cy="24735"/>
          </a:xfrm>
          <a:custGeom>
            <a:avLst/>
            <a:gdLst/>
            <a:ahLst/>
            <a:cxnLst/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2822;p94">
            <a:extLst>
              <a:ext uri="{FF2B5EF4-FFF2-40B4-BE49-F238E27FC236}">
                <a16:creationId xmlns:a16="http://schemas.microsoft.com/office/drawing/2014/main" id="{BB9D70BA-2CE9-49FD-B772-C544AC6A4899}"/>
              </a:ext>
            </a:extLst>
          </p:cNvPr>
          <p:cNvSpPr>
            <a:spLocks noGrp="1"/>
          </p:cNvSpPr>
          <p:nvPr/>
        </p:nvSpPr>
        <p:spPr>
          <a:xfrm>
            <a:off x="5710488" y="1722647"/>
            <a:ext cx="738530" cy="731528"/>
          </a:xfrm>
          <a:custGeom>
            <a:avLst/>
            <a:gdLst/>
            <a:ahLst/>
            <a:cxnLst/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2823;p94">
            <a:extLst>
              <a:ext uri="{FF2B5EF4-FFF2-40B4-BE49-F238E27FC236}">
                <a16:creationId xmlns:a16="http://schemas.microsoft.com/office/drawing/2014/main" id="{75D34B0B-CC53-4C34-97D4-F4E4D4C84F89}"/>
              </a:ext>
            </a:extLst>
          </p:cNvPr>
          <p:cNvSpPr>
            <a:spLocks noGrp="1"/>
          </p:cNvSpPr>
          <p:nvPr/>
        </p:nvSpPr>
        <p:spPr>
          <a:xfrm>
            <a:off x="5807750" y="1881793"/>
            <a:ext cx="370213" cy="348361"/>
          </a:xfrm>
          <a:custGeom>
            <a:avLst/>
            <a:gdLst/>
            <a:ahLst/>
            <a:cxnLst/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2824;p94">
            <a:extLst>
              <a:ext uri="{FF2B5EF4-FFF2-40B4-BE49-F238E27FC236}">
                <a16:creationId xmlns:a16="http://schemas.microsoft.com/office/drawing/2014/main" id="{BCB620E0-599B-42B8-91C1-395D2702A788}"/>
              </a:ext>
            </a:extLst>
          </p:cNvPr>
          <p:cNvSpPr>
            <a:spLocks noGrp="1"/>
          </p:cNvSpPr>
          <p:nvPr/>
        </p:nvSpPr>
        <p:spPr>
          <a:xfrm>
            <a:off x="5823435" y="1838099"/>
            <a:ext cx="102586" cy="55245"/>
          </a:xfrm>
          <a:custGeom>
            <a:avLst/>
            <a:gdLst/>
            <a:ahLst/>
            <a:cxnLst/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2825;p94">
            <a:extLst>
              <a:ext uri="{FF2B5EF4-FFF2-40B4-BE49-F238E27FC236}">
                <a16:creationId xmlns:a16="http://schemas.microsoft.com/office/drawing/2014/main" id="{42802F6D-D779-4730-A199-3B9049EA6B66}"/>
              </a:ext>
            </a:extLst>
          </p:cNvPr>
          <p:cNvSpPr>
            <a:spLocks noGrp="1"/>
          </p:cNvSpPr>
          <p:nvPr/>
        </p:nvSpPr>
        <p:spPr>
          <a:xfrm>
            <a:off x="5839050" y="1891866"/>
            <a:ext cx="55670" cy="34955"/>
          </a:xfrm>
          <a:custGeom>
            <a:avLst/>
            <a:gdLst/>
            <a:ahLst/>
            <a:cxnLst/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2826;p94">
            <a:extLst>
              <a:ext uri="{FF2B5EF4-FFF2-40B4-BE49-F238E27FC236}">
                <a16:creationId xmlns:a16="http://schemas.microsoft.com/office/drawing/2014/main" id="{E1C45218-A216-4F7D-BDFA-773E15AFFD5F}"/>
              </a:ext>
            </a:extLst>
          </p:cNvPr>
          <p:cNvSpPr>
            <a:spLocks noGrp="1"/>
          </p:cNvSpPr>
          <p:nvPr/>
        </p:nvSpPr>
        <p:spPr>
          <a:xfrm>
            <a:off x="5889467" y="2335907"/>
            <a:ext cx="76537" cy="21254"/>
          </a:xfrm>
          <a:custGeom>
            <a:avLst/>
            <a:gdLst/>
            <a:ahLst/>
            <a:cxnLst/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2827;p94">
            <a:extLst>
              <a:ext uri="{FF2B5EF4-FFF2-40B4-BE49-F238E27FC236}">
                <a16:creationId xmlns:a16="http://schemas.microsoft.com/office/drawing/2014/main" id="{57F84F54-E40E-488B-BEB8-EE2F141C82F6}"/>
              </a:ext>
            </a:extLst>
          </p:cNvPr>
          <p:cNvSpPr>
            <a:spLocks noGrp="1"/>
          </p:cNvSpPr>
          <p:nvPr/>
        </p:nvSpPr>
        <p:spPr>
          <a:xfrm>
            <a:off x="5889467" y="2374713"/>
            <a:ext cx="177299" cy="23030"/>
          </a:xfrm>
          <a:custGeom>
            <a:avLst/>
            <a:gdLst/>
            <a:ahLst/>
            <a:cxnLst/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2806;p94">
            <a:extLst>
              <a:ext uri="{FF2B5EF4-FFF2-40B4-BE49-F238E27FC236}">
                <a16:creationId xmlns:a16="http://schemas.microsoft.com/office/drawing/2014/main" id="{80C504E5-7AFB-425F-8683-81EB4ADA53DD}"/>
              </a:ext>
            </a:extLst>
          </p:cNvPr>
          <p:cNvSpPr>
            <a:spLocks noGrp="1"/>
          </p:cNvSpPr>
          <p:nvPr/>
        </p:nvSpPr>
        <p:spPr>
          <a:xfrm>
            <a:off x="9757324" y="1749715"/>
            <a:ext cx="738604" cy="694944"/>
          </a:xfrm>
          <a:custGeom>
            <a:avLst/>
            <a:gdLst/>
            <a:ahLst/>
            <a:cxnLst/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2807;p94">
            <a:extLst>
              <a:ext uri="{FF2B5EF4-FFF2-40B4-BE49-F238E27FC236}">
                <a16:creationId xmlns:a16="http://schemas.microsoft.com/office/drawing/2014/main" id="{CD919F2B-4F11-4DB3-AD68-DC6065963522}"/>
              </a:ext>
            </a:extLst>
          </p:cNvPr>
          <p:cNvSpPr>
            <a:spLocks noGrp="1"/>
          </p:cNvSpPr>
          <p:nvPr/>
        </p:nvSpPr>
        <p:spPr>
          <a:xfrm>
            <a:off x="10315126" y="2192350"/>
            <a:ext cx="99083" cy="21254"/>
          </a:xfrm>
          <a:custGeom>
            <a:avLst/>
            <a:gdLst/>
            <a:ahLst/>
            <a:cxnLst/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2808;p94">
            <a:extLst>
              <a:ext uri="{FF2B5EF4-FFF2-40B4-BE49-F238E27FC236}">
                <a16:creationId xmlns:a16="http://schemas.microsoft.com/office/drawing/2014/main" id="{C43824E3-E21C-4168-9574-F0C8252CFF78}"/>
              </a:ext>
            </a:extLst>
          </p:cNvPr>
          <p:cNvSpPr>
            <a:spLocks noGrp="1"/>
          </p:cNvSpPr>
          <p:nvPr/>
        </p:nvSpPr>
        <p:spPr>
          <a:xfrm>
            <a:off x="10240413" y="2231154"/>
            <a:ext cx="173796" cy="23030"/>
          </a:xfrm>
          <a:custGeom>
            <a:avLst/>
            <a:gdLst/>
            <a:ahLst/>
            <a:cxnLst/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2809;p94">
            <a:extLst>
              <a:ext uri="{FF2B5EF4-FFF2-40B4-BE49-F238E27FC236}">
                <a16:creationId xmlns:a16="http://schemas.microsoft.com/office/drawing/2014/main" id="{4E528611-17F4-4C75-B8C8-04D402841502}"/>
              </a:ext>
            </a:extLst>
          </p:cNvPr>
          <p:cNvSpPr>
            <a:spLocks noGrp="1"/>
          </p:cNvSpPr>
          <p:nvPr/>
        </p:nvSpPr>
        <p:spPr>
          <a:xfrm>
            <a:off x="10240413" y="1903160"/>
            <a:ext cx="36555" cy="22957"/>
          </a:xfrm>
          <a:custGeom>
            <a:avLst/>
            <a:gdLst/>
            <a:ahLst/>
            <a:cxnLst/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2810;p94">
            <a:extLst>
              <a:ext uri="{FF2B5EF4-FFF2-40B4-BE49-F238E27FC236}">
                <a16:creationId xmlns:a16="http://schemas.microsoft.com/office/drawing/2014/main" id="{3809F384-90C7-4C20-AAC1-1003AD2C65F9}"/>
              </a:ext>
            </a:extLst>
          </p:cNvPr>
          <p:cNvSpPr>
            <a:spLocks noGrp="1"/>
          </p:cNvSpPr>
          <p:nvPr/>
        </p:nvSpPr>
        <p:spPr>
          <a:xfrm>
            <a:off x="10294259" y="1903160"/>
            <a:ext cx="119950" cy="22957"/>
          </a:xfrm>
          <a:custGeom>
            <a:avLst/>
            <a:gdLst/>
            <a:ahLst/>
            <a:cxnLst/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2811;p94">
            <a:extLst>
              <a:ext uri="{FF2B5EF4-FFF2-40B4-BE49-F238E27FC236}">
                <a16:creationId xmlns:a16="http://schemas.microsoft.com/office/drawing/2014/main" id="{CFEC192B-852A-4C1B-9B99-1D807411D9F8}"/>
              </a:ext>
            </a:extLst>
          </p:cNvPr>
          <p:cNvSpPr>
            <a:spLocks noGrp="1"/>
          </p:cNvSpPr>
          <p:nvPr/>
        </p:nvSpPr>
        <p:spPr>
          <a:xfrm>
            <a:off x="10240413" y="1943669"/>
            <a:ext cx="173796" cy="21254"/>
          </a:xfrm>
          <a:custGeom>
            <a:avLst/>
            <a:gdLst/>
            <a:ahLst/>
            <a:cxnLst/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2812;p94">
            <a:extLst>
              <a:ext uri="{FF2B5EF4-FFF2-40B4-BE49-F238E27FC236}">
                <a16:creationId xmlns:a16="http://schemas.microsoft.com/office/drawing/2014/main" id="{311925E1-AAD7-40BE-87B0-919CBAC40FC6}"/>
              </a:ext>
            </a:extLst>
          </p:cNvPr>
          <p:cNvSpPr>
            <a:spLocks noGrp="1"/>
          </p:cNvSpPr>
          <p:nvPr/>
        </p:nvSpPr>
        <p:spPr>
          <a:xfrm>
            <a:off x="10240413" y="2008912"/>
            <a:ext cx="173796" cy="141225"/>
          </a:xfrm>
          <a:custGeom>
            <a:avLst/>
            <a:gdLst/>
            <a:ahLst/>
            <a:cxnLst/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2813;p94">
            <a:extLst>
              <a:ext uri="{FF2B5EF4-FFF2-40B4-BE49-F238E27FC236}">
                <a16:creationId xmlns:a16="http://schemas.microsoft.com/office/drawing/2014/main" id="{C7EBA6E9-8DC0-4C9E-8F11-E84BAAD9CA10}"/>
              </a:ext>
            </a:extLst>
          </p:cNvPr>
          <p:cNvSpPr>
            <a:spLocks noGrp="1"/>
          </p:cNvSpPr>
          <p:nvPr/>
        </p:nvSpPr>
        <p:spPr>
          <a:xfrm>
            <a:off x="9833790" y="1885460"/>
            <a:ext cx="364957" cy="370427"/>
          </a:xfrm>
          <a:custGeom>
            <a:avLst/>
            <a:gdLst/>
            <a:ahLst/>
            <a:cxnLst/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2814;p94">
            <a:extLst>
              <a:ext uri="{FF2B5EF4-FFF2-40B4-BE49-F238E27FC236}">
                <a16:creationId xmlns:a16="http://schemas.microsoft.com/office/drawing/2014/main" id="{9A6C7A3F-7585-4418-8921-340A277E4B83}"/>
              </a:ext>
            </a:extLst>
          </p:cNvPr>
          <p:cNvSpPr>
            <a:spLocks noGrp="1"/>
          </p:cNvSpPr>
          <p:nvPr/>
        </p:nvSpPr>
        <p:spPr>
          <a:xfrm>
            <a:off x="9844225" y="2227156"/>
            <a:ext cx="52240" cy="37620"/>
          </a:xfrm>
          <a:custGeom>
            <a:avLst/>
            <a:gdLst/>
            <a:ahLst/>
            <a:cxnLst/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2815;p94">
            <a:extLst>
              <a:ext uri="{FF2B5EF4-FFF2-40B4-BE49-F238E27FC236}">
                <a16:creationId xmlns:a16="http://schemas.microsoft.com/office/drawing/2014/main" id="{640AD4B2-060F-41CA-9145-8FE5217D1FBC}"/>
              </a:ext>
            </a:extLst>
          </p:cNvPr>
          <p:cNvSpPr>
            <a:spLocks noGrp="1"/>
          </p:cNvSpPr>
          <p:nvPr/>
        </p:nvSpPr>
        <p:spPr>
          <a:xfrm>
            <a:off x="10037138" y="2075044"/>
            <a:ext cx="52167" cy="36287"/>
          </a:xfrm>
          <a:custGeom>
            <a:avLst/>
            <a:gdLst/>
            <a:ahLst/>
            <a:cxnLst/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2816;p94">
            <a:extLst>
              <a:ext uri="{FF2B5EF4-FFF2-40B4-BE49-F238E27FC236}">
                <a16:creationId xmlns:a16="http://schemas.microsoft.com/office/drawing/2014/main" id="{B9AD07CB-42EC-4E97-9880-D8764D386165}"/>
              </a:ext>
            </a:extLst>
          </p:cNvPr>
          <p:cNvSpPr>
            <a:spLocks noGrp="1"/>
          </p:cNvSpPr>
          <p:nvPr/>
        </p:nvSpPr>
        <p:spPr>
          <a:xfrm>
            <a:off x="10151762" y="1905752"/>
            <a:ext cx="52240" cy="36287"/>
          </a:xfrm>
          <a:custGeom>
            <a:avLst/>
            <a:gdLst/>
            <a:ahLst/>
            <a:cxnLst/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184223" name="Скругленный прямоугольник 17">
            <a:extLst>
              <a:ext uri="{FF2B5EF4-FFF2-40B4-BE49-F238E27FC236}">
                <a16:creationId xmlns:a16="http://schemas.microsoft.com/office/drawing/2014/main" id="{7C4FB34C-1F61-48B5-880F-B3DE7356C14A}"/>
              </a:ext>
            </a:extLst>
          </p:cNvPr>
          <p:cNvSpPr>
            <a:spLocks noGrp="1"/>
          </p:cNvSpPr>
          <p:nvPr/>
        </p:nvSpPr>
        <p:spPr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957439397" name="Заголовок 13">
            <a:extLst>
              <a:ext uri="{FF2B5EF4-FFF2-40B4-BE49-F238E27FC236}">
                <a16:creationId xmlns:a16="http://schemas.microsoft.com/office/drawing/2014/main" id="{620EBA3E-8021-4DE6-8498-282D4308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sz="1500"/>
              <a:t>OPEN-SET ОТКАЗ</a:t>
            </a:r>
          </a:p>
        </p:txBody>
      </p:sp>
      <p:cxnSp>
        <p:nvCxnSpPr>
          <p:cNvPr id="1957439493" name="Google Shape;2799;p94"/>
          <p:cNvCxnSpPr/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218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859336" name="Скругленный прямоугольник 1">
            <a:extLst>
              <a:ext uri="{FF2B5EF4-FFF2-40B4-BE49-F238E27FC236}">
                <a16:creationId xmlns:a16="http://schemas.microsoft.com/office/drawing/2014/main" id="{7CD52A58-95EC-477E-BF88-A715060C4290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406422193" name="Номер слайда 10">
            <a:extLst>
              <a:ext uri="{FF2B5EF4-FFF2-40B4-BE49-F238E27FC236}">
                <a16:creationId xmlns:a16="http://schemas.microsoft.com/office/drawing/2014/main" id="{108AF1B5-7D44-42BB-8854-FE68428C2B3C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14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27317630" name="Текст 2">
            <a:extLst>
              <a:ext uri="{FF2B5EF4-FFF2-40B4-BE49-F238E27FC236}">
                <a16:creationId xmlns:a16="http://schemas.microsoft.com/office/drawing/2014/main" id="{7A528A9C-9AF6-4721-B81C-ED95087F5D19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r>
              <a:rPr dirty="0">
                <a:solidFill>
                  <a:srgbClr val="FC3777"/>
                </a:solidFill>
              </a:rPr>
              <a:t>ФИНАЛЬНЫЙ DOCKER (PyTorch 2.5.1 + CUDA 12.1)</a:t>
            </a:r>
          </a:p>
        </p:txBody>
      </p:sp>
      <p:sp>
        <p:nvSpPr>
          <p:cNvPr id="666575944" name="Текст 3">
            <a:extLst>
              <a:ext uri="{FF2B5EF4-FFF2-40B4-BE49-F238E27FC236}">
                <a16:creationId xmlns:a16="http://schemas.microsoft.com/office/drawing/2014/main" id="{F7321080-AE24-49FB-9A17-82128AD2DCA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755267" y="1935260"/>
            <a:ext cx="4790314" cy="64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>
                <a:solidFill>
                  <a:srgbClr val="2D1451"/>
                </a:solidFill>
              </a:rPr>
              <a:t>Локальный замер на RTX 4060 | 50.98 ms batch‑1 | 101.04 FPS</a:t>
            </a:r>
          </a:p>
          <a:p>
            <a:pPr>
              <a:buNone/>
            </a:pPr>
            <a:endParaRPr lang="ru-RU" dirty="0">
              <a:solidFill>
                <a:srgbClr val="2D1451"/>
              </a:solidFill>
            </a:endParaRPr>
          </a:p>
          <a:p>
            <a:pPr>
              <a:buNone/>
            </a:pPr>
            <a:endParaRPr lang="ru-RU" dirty="0">
              <a:solidFill>
                <a:srgbClr val="2D1451"/>
              </a:solidFill>
            </a:endParaRPr>
          </a:p>
        </p:txBody>
      </p:sp>
      <p:sp>
        <p:nvSpPr>
          <p:cNvPr id="21059579" name="Текст 4">
            <a:extLst>
              <a:ext uri="{FF2B5EF4-FFF2-40B4-BE49-F238E27FC236}">
                <a16:creationId xmlns:a16="http://schemas.microsoft.com/office/drawing/2014/main" id="{6BD5F488-5283-4B7B-B97C-B4B300A3515B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r>
              <a:rPr lang="ru-RU" dirty="0">
                <a:solidFill>
                  <a:srgbClr val="FC3777"/>
                </a:solidFill>
              </a:rPr>
              <a:t>СОВРЕМЕННЫЙ RUNTIME (PyTorch 2.11 + CUDA 12.8)</a:t>
            </a:r>
            <a:endParaRPr dirty="0">
              <a:solidFill>
                <a:srgbClr val="FC3777"/>
              </a:solidFill>
            </a:endParaRPr>
          </a:p>
        </p:txBody>
      </p:sp>
      <p:sp>
        <p:nvSpPr>
          <p:cNvPr id="125973680" name="Текст 5">
            <a:extLst>
              <a:ext uri="{FF2B5EF4-FFF2-40B4-BE49-F238E27FC236}">
                <a16:creationId xmlns:a16="http://schemas.microsoft.com/office/drawing/2014/main" id="{1192124B-4D78-4C67-A27A-DF5C3B03E353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755267" y="3211705"/>
            <a:ext cx="4790314" cy="642164"/>
          </a:xfrm>
        </p:spPr>
        <p:txBody>
          <a:bodyPr>
            <a:normAutofit fontScale="97778"/>
          </a:bodyPr>
          <a:lstStyle/>
          <a:p>
            <a:pPr>
              <a:buNone/>
            </a:pPr>
            <a:r>
              <a:rPr lang="ru-RU" dirty="0">
                <a:solidFill>
                  <a:srgbClr val="2D1451"/>
                </a:solidFill>
              </a:rPr>
              <a:t>Локальный замер на RTX 4060 | 41.83 ms batch‑1 | 124.05 FPS</a:t>
            </a:r>
          </a:p>
          <a:p>
            <a:endParaRPr dirty="0">
              <a:solidFill>
                <a:srgbClr val="2D1451"/>
              </a:solidFill>
            </a:endParaRPr>
          </a:p>
          <a:p>
            <a:pPr>
              <a:buNone/>
            </a:pPr>
            <a:endParaRPr dirty="0">
              <a:solidFill>
                <a:srgbClr val="2D1451"/>
              </a:solidFill>
            </a:endParaRPr>
          </a:p>
        </p:txBody>
      </p:sp>
      <p:sp>
        <p:nvSpPr>
          <p:cNvPr id="549386514" name="Текст 6">
            <a:extLst>
              <a:ext uri="{FF2B5EF4-FFF2-40B4-BE49-F238E27FC236}">
                <a16:creationId xmlns:a16="http://schemas.microsoft.com/office/drawing/2014/main" id="{769260AD-F9E0-4C31-A304-1D602774C22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 dirty="0">
                <a:solidFill>
                  <a:srgbClr val="FC3777"/>
                </a:solidFill>
              </a:rPr>
              <a:t>ЧТО ВХОДИТ В LATENCY</a:t>
            </a:r>
          </a:p>
        </p:txBody>
      </p:sp>
      <p:sp>
        <p:nvSpPr>
          <p:cNvPr id="1112297575" name="Текст 7">
            <a:extLst>
              <a:ext uri="{FF2B5EF4-FFF2-40B4-BE49-F238E27FC236}">
                <a16:creationId xmlns:a16="http://schemas.microsoft.com/office/drawing/2014/main" id="{3EEF2447-5D32-4FB8-BE5B-E42F391A667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755267" y="4259922"/>
            <a:ext cx="4790314" cy="64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JPEG I/O, decode, crop, HSV, transfer, три forward, pooling и L2.</a:t>
            </a:r>
          </a:p>
        </p:txBody>
      </p:sp>
      <p:graphicFrame>
        <p:nvGraphicFramePr>
          <p:cNvPr id="1827317642" name="Диаграмма 11"/>
          <p:cNvGraphicFramePr/>
          <p:nvPr>
            <p:extLst>
              <p:ext uri="{D42A27DB-BD31-4B8C-83A1-F6EECF244321}">
                <p14:modId xmlns:p14="http://schemas.microsoft.com/office/powerpoint/2010/main" val="72832085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77794490" name="Заголовок 13">
            <a:extLst>
              <a:ext uri="{FF2B5EF4-FFF2-40B4-BE49-F238E27FC236}">
                <a16:creationId xmlns:a16="http://schemas.microsoft.com/office/drawing/2014/main" id="{40D63AC9-F126-4E48-B0B3-A1561A19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sz="1500"/>
              <a:t>ПРОИЗВОДИТЕЛЬНОСТЬ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782075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>
            <a:extLst>
              <a:ext uri="{FF2B5EF4-FFF2-40B4-BE49-F238E27FC236}">
                <a16:creationId xmlns:a16="http://schemas.microsoft.com/office/drawing/2014/main" id="{0691B2DB-EAF6-4BAB-AAFF-64F270A23B8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70980009" name="Номер слайда 12">
            <a:extLst>
              <a:ext uri="{FF2B5EF4-FFF2-40B4-BE49-F238E27FC236}">
                <a16:creationId xmlns:a16="http://schemas.microsoft.com/office/drawing/2014/main" id="{F27F1E01-9B2E-4FF5-8E0F-9309BD0149FB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15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45791128" name="Текст 1">
            <a:extLst>
              <a:ext uri="{FF2B5EF4-FFF2-40B4-BE49-F238E27FC236}">
                <a16:creationId xmlns:a16="http://schemas.microsoft.com/office/drawing/2014/main" id="{DAFC6B83-2446-4E67-9197-5A618933EFCE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ТЕКУЩИЙ EXACT</a:t>
            </a:r>
          </a:p>
        </p:txBody>
      </p:sp>
      <p:sp>
        <p:nvSpPr>
          <p:cNvPr id="175425605" name="Текст 2">
            <a:extLst>
              <a:ext uri="{FF2B5EF4-FFF2-40B4-BE49-F238E27FC236}">
                <a16:creationId xmlns:a16="http://schemas.microsoft.com/office/drawing/2014/main" id="{81799234-48C6-4DFB-ACFF-B5E51D946C3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 err="1">
                <a:solidFill>
                  <a:srgbClr val="2D1451"/>
                </a:solidFill>
              </a:rPr>
              <a:t>Сейчас признаки gallery считаются один раз; exact cosine scan подходит для 750 изображений.</a:t>
            </a:r>
          </a:p>
        </p:txBody>
      </p:sp>
      <p:sp>
        <p:nvSpPr>
          <p:cNvPr id="567808411" name="Текст 3">
            <a:extLst>
              <a:ext uri="{FF2B5EF4-FFF2-40B4-BE49-F238E27FC236}">
                <a16:creationId xmlns:a16="http://schemas.microsoft.com/office/drawing/2014/main" id="{6C5E7AE0-859C-4EC6-A02B-DEDF1DF5E61D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ANN SHORTLIST</a:t>
            </a:r>
          </a:p>
        </p:txBody>
      </p:sp>
      <p:sp>
        <p:nvSpPr>
          <p:cNvPr id="1063055699" name="Текст 4">
            <a:extLst>
              <a:ext uri="{FF2B5EF4-FFF2-40B4-BE49-F238E27FC236}">
                <a16:creationId xmlns:a16="http://schemas.microsoft.com/office/drawing/2014/main" id="{CA5A0BB0-3AA0-4A00-9EDB-D6024B970B66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814077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>
                <a:solidFill>
                  <a:srgbClr val="2D1451"/>
                </a:solidFill>
              </a:rPr>
              <a:t>При росте gallery FAISS IVF‑PQ/HNSW отбирает top‑K без полного перебора.</a:t>
            </a:r>
          </a:p>
        </p:txBody>
      </p:sp>
      <p:sp>
        <p:nvSpPr>
          <p:cNvPr id="1501354303" name="Текст 5">
            <a:extLst>
              <a:ext uri="{FF2B5EF4-FFF2-40B4-BE49-F238E27FC236}">
                <a16:creationId xmlns:a16="http://schemas.microsoft.com/office/drawing/2014/main" id="{11CB69F1-33AF-4F1E-A6F0-29B3D2021003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КОНТРОЛЬ КАЧЕСТВА</a:t>
            </a:r>
          </a:p>
        </p:txBody>
      </p:sp>
      <p:sp>
        <p:nvSpPr>
          <p:cNvPr id="1321846474" name="Текст 6">
            <a:extLst>
              <a:ext uri="{FF2B5EF4-FFF2-40B4-BE49-F238E27FC236}">
                <a16:creationId xmlns:a16="http://schemas.microsoft.com/office/drawing/2014/main" id="{51D099CC-54D1-431E-86E1-870600C90F74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814077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 err="1">
                <a:solidFill>
                  <a:srgbClr val="2D1451"/>
                </a:solidFill>
              </a:rPr>
              <a:t>Сравниваем Recall@K ANN с exact-поиском, а также p50/p95/p99, очередь и долю отказов.</a:t>
            </a:r>
          </a:p>
        </p:txBody>
      </p:sp>
      <p:sp>
        <p:nvSpPr>
          <p:cNvPr id="21704065" name="Текст 7">
            <a:extLst>
              <a:ext uri="{FF2B5EF4-FFF2-40B4-BE49-F238E27FC236}">
                <a16:creationId xmlns:a16="http://schemas.microsoft.com/office/drawing/2014/main" id="{9B9700D3-8C7B-45A3-A377-35A08F4012B9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ХРАНЕНИЕ</a:t>
            </a:r>
          </a:p>
        </p:txBody>
      </p:sp>
      <p:sp>
        <p:nvSpPr>
          <p:cNvPr id="852980671" name="Текст 8">
            <a:extLst>
              <a:ext uri="{FF2B5EF4-FFF2-40B4-BE49-F238E27FC236}">
                <a16:creationId xmlns:a16="http://schemas.microsoft.com/office/drawing/2014/main" id="{5731EA59-4B0E-47C7-98B0-A29532698716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5181340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>
                <a:solidFill>
                  <a:srgbClr val="2D1451"/>
                </a:solidFill>
              </a:rPr>
              <a:t>Для 1 млн: PQ-коды в RAM; точные float16 и local features — на NVMe по запросу.</a:t>
            </a:r>
          </a:p>
        </p:txBody>
      </p:sp>
      <p:sp>
        <p:nvSpPr>
          <p:cNvPr id="58284361" name="Текст 9">
            <a:extLst>
              <a:ext uri="{FF2B5EF4-FFF2-40B4-BE49-F238E27FC236}">
                <a16:creationId xmlns:a16="http://schemas.microsoft.com/office/drawing/2014/main" id="{F38BD05B-A971-4361-B7F3-0CA458F53641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ТЕКУЩИЙ RERANK</a:t>
            </a:r>
          </a:p>
        </p:txBody>
      </p:sp>
      <p:sp>
        <p:nvSpPr>
          <p:cNvPr id="1837104852" name="Текст 10">
            <a:extLst>
              <a:ext uri="{FF2B5EF4-FFF2-40B4-BE49-F238E27FC236}">
                <a16:creationId xmlns:a16="http://schemas.microsoft.com/office/drawing/2014/main" id="{80B35A3B-04B4-4331-A2D4-A43994B93880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5181340"/>
            <a:ext cx="2526079" cy="1120685"/>
          </a:xfrm>
        </p:spPr>
        <p:txBody>
          <a:bodyPr>
            <a:normAutofit/>
          </a:bodyPr>
          <a:lstStyle/>
          <a:p>
            <a:pPr marL="0" indent="0"/>
            <a:r>
              <a:rPr dirty="0">
                <a:solidFill>
                  <a:srgbClr val="2D1451"/>
                </a:solidFill>
              </a:rPr>
              <a:t>Exact top‑50 и patch/token rerank top‑25 сохраняются: дорогая часть не сканирует всю gallery.</a:t>
            </a:r>
          </a:p>
        </p:txBody>
      </p:sp>
      <p:sp>
        <p:nvSpPr>
          <p:cNvPr id="1731368653" name="Прямая соединительная линия 33">
            <a:extLst>
              <a:ext uri="{FF2B5EF4-FFF2-40B4-BE49-F238E27FC236}">
                <a16:creationId xmlns:a16="http://schemas.microsoft.com/office/drawing/2014/main" id="{79BFEF18-26F7-43D0-BD2B-491609911E15}"/>
              </a:ext>
            </a:extLst>
          </p:cNvPr>
          <p:cNvSpPr>
            <a:spLocks noGrp="1"/>
          </p:cNvSpPr>
          <p:nvPr/>
        </p:nv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4670215" name="Прямая соединительная линия 34">
            <a:extLst>
              <a:ext uri="{FF2B5EF4-FFF2-40B4-BE49-F238E27FC236}">
                <a16:creationId xmlns:a16="http://schemas.microsoft.com/office/drawing/2014/main" id="{9C80D890-FB3F-43A3-9B4B-F0876D3380E8}"/>
              </a:ext>
            </a:extLst>
          </p:cNvPr>
          <p:cNvSpPr>
            <a:spLocks noGrp="1"/>
          </p:cNvSpPr>
          <p:nvPr/>
        </p:nv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0144373" name="Прямая соединительная линия 35">
            <a:extLst>
              <a:ext uri="{FF2B5EF4-FFF2-40B4-BE49-F238E27FC236}">
                <a16:creationId xmlns:a16="http://schemas.microsoft.com/office/drawing/2014/main" id="{71E6D639-913A-4396-B4A6-7FEE14FBADD9}"/>
              </a:ext>
            </a:extLst>
          </p:cNvPr>
          <p:cNvSpPr>
            <a:spLocks noGrp="1"/>
          </p:cNvSpPr>
          <p:nvPr/>
        </p:nv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664500" name="Прямая соединительная линия 36">
            <a:extLst>
              <a:ext uri="{FF2B5EF4-FFF2-40B4-BE49-F238E27FC236}">
                <a16:creationId xmlns:a16="http://schemas.microsoft.com/office/drawing/2014/main" id="{B9FB534B-DF89-4008-A203-80408D59BC4B}"/>
              </a:ext>
            </a:extLst>
          </p:cNvPr>
          <p:cNvSpPr>
            <a:spLocks noGrp="1"/>
          </p:cNvSpPr>
          <p:nvPr/>
        </p:nv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05829465" name="Прямая соединительная линия 37">
            <a:extLst>
              <a:ext uri="{FF2B5EF4-FFF2-40B4-BE49-F238E27FC236}">
                <a16:creationId xmlns:a16="http://schemas.microsoft.com/office/drawing/2014/main" id="{6D485B4F-5D55-497B-A3CB-BC0E160F5D26}"/>
              </a:ext>
            </a:extLst>
          </p:cNvPr>
          <p:cNvSpPr>
            <a:spLocks noGrp="1"/>
          </p:cNvSpPr>
          <p:nvPr/>
        </p:nv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2336023" name="Прямая соединительная линия 38">
            <a:extLst>
              <a:ext uri="{FF2B5EF4-FFF2-40B4-BE49-F238E27FC236}">
                <a16:creationId xmlns:a16="http://schemas.microsoft.com/office/drawing/2014/main" id="{B0D9170A-0269-48D0-8BAF-026F638CB3E7}"/>
              </a:ext>
            </a:extLst>
          </p:cNvPr>
          <p:cNvSpPr>
            <a:spLocks noGrp="1"/>
          </p:cNvSpPr>
          <p:nvPr/>
        </p:nv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6998851" name="Прямая соединительная линия 39">
            <a:extLst>
              <a:ext uri="{FF2B5EF4-FFF2-40B4-BE49-F238E27FC236}">
                <a16:creationId xmlns:a16="http://schemas.microsoft.com/office/drawing/2014/main" id="{FA2055B8-8EED-4278-AEF2-CC7F65C42214}"/>
              </a:ext>
            </a:extLst>
          </p:cNvPr>
          <p:cNvSpPr>
            <a:spLocks noGrp="1"/>
          </p:cNvSpPr>
          <p:nvPr/>
        </p:nv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937511" name="Прямая соединительная линия 40">
            <a:extLst>
              <a:ext uri="{FF2B5EF4-FFF2-40B4-BE49-F238E27FC236}">
                <a16:creationId xmlns:a16="http://schemas.microsoft.com/office/drawing/2014/main" id="{546A02D4-6851-4267-B1E6-88C68F0BA296}"/>
              </a:ext>
            </a:extLst>
          </p:cNvPr>
          <p:cNvSpPr>
            <a:spLocks noGrp="1"/>
          </p:cNvSpPr>
          <p:nvPr/>
        </p:nv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7810320" name="Прямая соединительная линия 41">
            <a:extLst>
              <a:ext uri="{FF2B5EF4-FFF2-40B4-BE49-F238E27FC236}">
                <a16:creationId xmlns:a16="http://schemas.microsoft.com/office/drawing/2014/main" id="{CBA4F9B3-F47F-4D39-8B38-721DDCAB9E44}"/>
              </a:ext>
            </a:extLst>
          </p:cNvPr>
          <p:cNvSpPr>
            <a:spLocks noGrp="1"/>
          </p:cNvSpPr>
          <p:nvPr/>
        </p:nv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8751272" name="Скругленный прямоугольник 42">
            <a:extLst>
              <a:ext uri="{FF2B5EF4-FFF2-40B4-BE49-F238E27FC236}">
                <a16:creationId xmlns:a16="http://schemas.microsoft.com/office/drawing/2014/main" id="{CF231F77-CDCF-49A7-9FE8-9D1867243233}"/>
              </a:ext>
            </a:extLst>
          </p:cNvPr>
          <p:cNvSpPr>
            <a:spLocks noGrp="1"/>
          </p:cNvSpPr>
          <p:nvPr/>
        </p:nvSpPr>
        <p:spPr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812859897" name="Скругленный прямоугольник 43">
            <a:extLst>
              <a:ext uri="{FF2B5EF4-FFF2-40B4-BE49-F238E27FC236}">
                <a16:creationId xmlns:a16="http://schemas.microsoft.com/office/drawing/2014/main" id="{37D87DB0-31F2-446F-8DE7-424D71D10562}"/>
              </a:ext>
            </a:extLst>
          </p:cNvPr>
          <p:cNvSpPr>
            <a:spLocks noGrp="1"/>
          </p:cNvSpPr>
          <p:nvPr/>
        </p:nvSpPr>
        <p:spPr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108934526" name="Скругленный прямоугольник 44">
            <a:extLst>
              <a:ext uri="{FF2B5EF4-FFF2-40B4-BE49-F238E27FC236}">
                <a16:creationId xmlns:a16="http://schemas.microsoft.com/office/drawing/2014/main" id="{CC439717-08AA-4BF8-8535-722CE7ADE0E0}"/>
              </a:ext>
            </a:extLst>
          </p:cNvPr>
          <p:cNvSpPr>
            <a:spLocks noGrp="1"/>
          </p:cNvSpPr>
          <p:nvPr/>
        </p:nvSpPr>
        <p:spPr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1741896490" name="Скругленный прямоугольник 52">
            <a:extLst>
              <a:ext uri="{FF2B5EF4-FFF2-40B4-BE49-F238E27FC236}">
                <a16:creationId xmlns:a16="http://schemas.microsoft.com/office/drawing/2014/main" id="{B11E4735-E292-417C-AB3C-96FBF76ED5F2}"/>
              </a:ext>
            </a:extLst>
          </p:cNvPr>
          <p:cNvSpPr>
            <a:spLocks noGrp="1"/>
          </p:cNvSpPr>
          <p:nvPr/>
        </p:nvSpPr>
        <p:spPr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1007682587" name="Скругленный прямоугольник 53">
            <a:extLst>
              <a:ext uri="{FF2B5EF4-FFF2-40B4-BE49-F238E27FC236}">
                <a16:creationId xmlns:a16="http://schemas.microsoft.com/office/drawing/2014/main" id="{54B6BCE1-405A-469F-AC68-C02A319B4119}"/>
              </a:ext>
            </a:extLst>
          </p:cNvPr>
          <p:cNvSpPr>
            <a:spLocks noGrp="1"/>
          </p:cNvSpPr>
          <p:nvPr/>
        </p:nvSpPr>
        <p:spPr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475492823" name="Заголовок 13">
            <a:extLst>
              <a:ext uri="{FF2B5EF4-FFF2-40B4-BE49-F238E27FC236}">
                <a16:creationId xmlns:a16="http://schemas.microsoft.com/office/drawing/2014/main" id="{4AC444F8-A2CC-46E8-98AC-7BE9F4E7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sz="1500"/>
              <a:t>ПЛАН МАСШТАБИРОВАНИЯ</a:t>
            </a:r>
          </a:p>
        </p:txBody>
      </p:sp>
      <p:sp>
        <p:nvSpPr>
          <p:cNvPr id="1473606708" name="Скругленный прямоугольник 13">
            <a:extLst>
              <a:ext uri="{FF2B5EF4-FFF2-40B4-BE49-F238E27FC236}">
                <a16:creationId xmlns:a16="http://schemas.microsoft.com/office/drawing/2014/main" id="{650A4214-FB78-433C-B4B1-E03ACD048E9C}"/>
              </a:ext>
            </a:extLst>
          </p:cNvPr>
          <p:cNvSpPr>
            <a:spLocks noGrp="1"/>
          </p:cNvSpPr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6179979" name="Скругленный прямоугольник 15">
            <a:extLst>
              <a:ext uri="{FF2B5EF4-FFF2-40B4-BE49-F238E27FC236}">
                <a16:creationId xmlns:a16="http://schemas.microsoft.com/office/drawing/2014/main" id="{71481603-7CA9-4036-B99B-D1742455CB72}"/>
              </a:ext>
            </a:extLst>
          </p:cNvPr>
          <p:cNvSpPr>
            <a:spLocks noGrp="1"/>
          </p:cNvSpPr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05368717" name="Скругленный прямоугольник 16">
            <a:extLst>
              <a:ext uri="{FF2B5EF4-FFF2-40B4-BE49-F238E27FC236}">
                <a16:creationId xmlns:a16="http://schemas.microsoft.com/office/drawing/2014/main" id="{C351E3DD-2601-41A4-A2DA-F093BA94A52E}"/>
              </a:ext>
            </a:extLst>
          </p:cNvPr>
          <p:cNvSpPr>
            <a:spLocks noGrp="1"/>
          </p:cNvSpPr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93685711" name="Скругленный прямоугольник 17">
            <a:extLst>
              <a:ext uri="{FF2B5EF4-FFF2-40B4-BE49-F238E27FC236}">
                <a16:creationId xmlns:a16="http://schemas.microsoft.com/office/drawing/2014/main" id="{734A3730-7272-484F-A700-51121D7EF477}"/>
              </a:ext>
            </a:extLst>
          </p:cNvPr>
          <p:cNvSpPr>
            <a:spLocks noGrp="1"/>
          </p:cNvSpPr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24313899" name="Скругленный прямоугольник 18">
            <a:extLst>
              <a:ext uri="{FF2B5EF4-FFF2-40B4-BE49-F238E27FC236}">
                <a16:creationId xmlns:a16="http://schemas.microsoft.com/office/drawing/2014/main" id="{DE7F75AD-2B5F-419C-BC5E-08FF8995FFDE}"/>
              </a:ext>
            </a:extLst>
          </p:cNvPr>
          <p:cNvSpPr>
            <a:spLocks noGrp="1"/>
          </p:cNvSpPr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402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>
            <a:extLst>
              <a:ext uri="{FF2B5EF4-FFF2-40B4-BE49-F238E27FC236}">
                <a16:creationId xmlns:a16="http://schemas.microsoft.com/office/drawing/2014/main" id="{0691B2DB-EAF6-4BAB-AAFF-64F270A23B8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70980009" name="Номер слайда 12">
            <a:extLst>
              <a:ext uri="{FF2B5EF4-FFF2-40B4-BE49-F238E27FC236}">
                <a16:creationId xmlns:a16="http://schemas.microsoft.com/office/drawing/2014/main" id="{F27F1E01-9B2E-4FF5-8E0F-9309BD0149FB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16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45791128" name="Текст 1">
            <a:extLst>
              <a:ext uri="{FF2B5EF4-FFF2-40B4-BE49-F238E27FC236}">
                <a16:creationId xmlns:a16="http://schemas.microsoft.com/office/drawing/2014/main" id="{DAFC6B83-2446-4E67-9197-5A618933EFCE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FROZEN DOCKER</a:t>
            </a:r>
          </a:p>
        </p:txBody>
      </p:sp>
      <p:sp>
        <p:nvSpPr>
          <p:cNvPr id="175425605" name="Текст 2">
            <a:extLst>
              <a:ext uri="{FF2B5EF4-FFF2-40B4-BE49-F238E27FC236}">
                <a16:creationId xmlns:a16="http://schemas.microsoft.com/office/drawing/2014/main" id="{81799234-48C6-4DFB-ACFF-B5E51D946C3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Docker фиксирует PyTorch 2.5.1/CUDA 12.1; веса и конфиг проверяются по SHA‑256.</a:t>
            </a:r>
          </a:p>
        </p:txBody>
      </p:sp>
      <p:sp>
        <p:nvSpPr>
          <p:cNvPr id="567808411" name="Текст 3">
            <a:extLst>
              <a:ext uri="{FF2B5EF4-FFF2-40B4-BE49-F238E27FC236}">
                <a16:creationId xmlns:a16="http://schemas.microsoft.com/office/drawing/2014/main" id="{6C5E7AE0-859C-4EC6-A02B-DEDF1DF5E61D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QUERY БЕЗ УТЕЧЕК</a:t>
            </a:r>
          </a:p>
        </p:txBody>
      </p:sp>
      <p:sp>
        <p:nvSpPr>
          <p:cNvPr id="1063055699" name="Текст 4">
            <a:extLst>
              <a:ext uri="{FF2B5EF4-FFF2-40B4-BE49-F238E27FC236}">
                <a16:creationId xmlns:a16="http://schemas.microsoft.com/office/drawing/2014/main" id="{CA5A0BB0-3AA0-4A00-9EDB-D6024B970B66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814077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Inference не использует другие query, camera_id и порядок CSV.</a:t>
            </a:r>
          </a:p>
        </p:txBody>
      </p:sp>
      <p:sp>
        <p:nvSpPr>
          <p:cNvPr id="1501354303" name="Текст 5">
            <a:extLst>
              <a:ext uri="{FF2B5EF4-FFF2-40B4-BE49-F238E27FC236}">
                <a16:creationId xmlns:a16="http://schemas.microsoft.com/office/drawing/2014/main" id="{11CB69F1-33AF-4F1E-A6F0-29B3D2021003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OPEN-SET</a:t>
            </a:r>
          </a:p>
        </p:txBody>
      </p:sp>
      <p:sp>
        <p:nvSpPr>
          <p:cNvPr id="1321846474" name="Текст 6">
            <a:extLst>
              <a:ext uri="{FF2B5EF4-FFF2-40B4-BE49-F238E27FC236}">
                <a16:creationId xmlns:a16="http://schemas.microsoft.com/office/drawing/2014/main" id="{51D099CC-54D1-431E-86E1-870600C90F74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814077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Порог обучен на tune OOF и подтверждён на непересекающихся seeds при ≈20% unknown.</a:t>
            </a:r>
          </a:p>
        </p:txBody>
      </p:sp>
      <p:sp>
        <p:nvSpPr>
          <p:cNvPr id="21704065" name="Текст 7">
            <a:extLst>
              <a:ext uri="{FF2B5EF4-FFF2-40B4-BE49-F238E27FC236}">
                <a16:creationId xmlns:a16="http://schemas.microsoft.com/office/drawing/2014/main" id="{9B9700D3-8C7B-45A3-A377-35A08F4012B9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FAIL-CLOSED</a:t>
            </a:r>
          </a:p>
        </p:txBody>
      </p:sp>
      <p:sp>
        <p:nvSpPr>
          <p:cNvPr id="852980671" name="Текст 8">
            <a:extLst>
              <a:ext uri="{FF2B5EF4-FFF2-40B4-BE49-F238E27FC236}">
                <a16:creationId xmlns:a16="http://schemas.microsoft.com/office/drawing/2014/main" id="{5731EA59-4B0E-47C7-98B0-A29532698716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5181340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Verifier проверяет схемы, ID, top‑10, confidence, веса и manifest; ошибка останавливает сдачу.</a:t>
            </a:r>
          </a:p>
        </p:txBody>
      </p:sp>
      <p:sp>
        <p:nvSpPr>
          <p:cNvPr id="58284361" name="Текст 9">
            <a:extLst>
              <a:ext uri="{FF2B5EF4-FFF2-40B4-BE49-F238E27FC236}">
                <a16:creationId xmlns:a16="http://schemas.microsoft.com/office/drawing/2014/main" id="{F38BD05B-A971-4361-B7F3-0CA458F53641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FC3777"/>
                </a:solidFill>
              </a:rPr>
              <a:t>ЕДИНЫЕ АРТЕФАКТЫ</a:t>
            </a:r>
          </a:p>
        </p:txBody>
      </p:sp>
      <p:sp>
        <p:nvSpPr>
          <p:cNvPr id="1837104852" name="Текст 10">
            <a:extLst>
              <a:ext uri="{FF2B5EF4-FFF2-40B4-BE49-F238E27FC236}">
                <a16:creationId xmlns:a16="http://schemas.microsoft.com/office/drawing/2014/main" id="{80B35A3B-04B4-4331-A2D4-A43994B93880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5181340"/>
            <a:ext cx="2526079" cy="1120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>
                <a:solidFill>
                  <a:srgbClr val="2D1451"/>
                </a:solidFill>
              </a:rPr>
              <a:t>Один pipeline строит embeddings.npy, submission.csv и candidates.csv; UI читает те же артефакты.</a:t>
            </a:r>
          </a:p>
        </p:txBody>
      </p:sp>
      <p:sp>
        <p:nvSpPr>
          <p:cNvPr id="1731368653" name="Прямая соединительная линия 33">
            <a:extLst>
              <a:ext uri="{FF2B5EF4-FFF2-40B4-BE49-F238E27FC236}">
                <a16:creationId xmlns:a16="http://schemas.microsoft.com/office/drawing/2014/main" id="{79BFEF18-26F7-43D0-BD2B-491609911E15}"/>
              </a:ext>
            </a:extLst>
          </p:cNvPr>
          <p:cNvSpPr>
            <a:spLocks noGrp="1"/>
          </p:cNvSpPr>
          <p:nvPr/>
        </p:nv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4670215" name="Прямая соединительная линия 34">
            <a:extLst>
              <a:ext uri="{FF2B5EF4-FFF2-40B4-BE49-F238E27FC236}">
                <a16:creationId xmlns:a16="http://schemas.microsoft.com/office/drawing/2014/main" id="{9C80D890-FB3F-43A3-9B4B-F0876D3380E8}"/>
              </a:ext>
            </a:extLst>
          </p:cNvPr>
          <p:cNvSpPr>
            <a:spLocks noGrp="1"/>
          </p:cNvSpPr>
          <p:nvPr/>
        </p:nv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0144373" name="Прямая соединительная линия 35">
            <a:extLst>
              <a:ext uri="{FF2B5EF4-FFF2-40B4-BE49-F238E27FC236}">
                <a16:creationId xmlns:a16="http://schemas.microsoft.com/office/drawing/2014/main" id="{71E6D639-913A-4396-B4A6-7FEE14FBADD9}"/>
              </a:ext>
            </a:extLst>
          </p:cNvPr>
          <p:cNvSpPr>
            <a:spLocks noGrp="1"/>
          </p:cNvSpPr>
          <p:nvPr/>
        </p:nv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664500" name="Прямая соединительная линия 36">
            <a:extLst>
              <a:ext uri="{FF2B5EF4-FFF2-40B4-BE49-F238E27FC236}">
                <a16:creationId xmlns:a16="http://schemas.microsoft.com/office/drawing/2014/main" id="{B9FB534B-DF89-4008-A203-80408D59BC4B}"/>
              </a:ext>
            </a:extLst>
          </p:cNvPr>
          <p:cNvSpPr>
            <a:spLocks noGrp="1"/>
          </p:cNvSpPr>
          <p:nvPr/>
        </p:nv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05829465" name="Прямая соединительная линия 37">
            <a:extLst>
              <a:ext uri="{FF2B5EF4-FFF2-40B4-BE49-F238E27FC236}">
                <a16:creationId xmlns:a16="http://schemas.microsoft.com/office/drawing/2014/main" id="{6D485B4F-5D55-497B-A3CB-BC0E160F5D26}"/>
              </a:ext>
            </a:extLst>
          </p:cNvPr>
          <p:cNvSpPr>
            <a:spLocks noGrp="1"/>
          </p:cNvSpPr>
          <p:nvPr/>
        </p:nv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2336023" name="Прямая соединительная линия 38">
            <a:extLst>
              <a:ext uri="{FF2B5EF4-FFF2-40B4-BE49-F238E27FC236}">
                <a16:creationId xmlns:a16="http://schemas.microsoft.com/office/drawing/2014/main" id="{B0D9170A-0269-48D0-8BAF-026F638CB3E7}"/>
              </a:ext>
            </a:extLst>
          </p:cNvPr>
          <p:cNvSpPr>
            <a:spLocks noGrp="1"/>
          </p:cNvSpPr>
          <p:nvPr/>
        </p:nv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6998851" name="Прямая соединительная линия 39">
            <a:extLst>
              <a:ext uri="{FF2B5EF4-FFF2-40B4-BE49-F238E27FC236}">
                <a16:creationId xmlns:a16="http://schemas.microsoft.com/office/drawing/2014/main" id="{FA2055B8-8EED-4278-AEF2-CC7F65C42214}"/>
              </a:ext>
            </a:extLst>
          </p:cNvPr>
          <p:cNvSpPr>
            <a:spLocks noGrp="1"/>
          </p:cNvSpPr>
          <p:nvPr/>
        </p:nv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937511" name="Прямая соединительная линия 40">
            <a:extLst>
              <a:ext uri="{FF2B5EF4-FFF2-40B4-BE49-F238E27FC236}">
                <a16:creationId xmlns:a16="http://schemas.microsoft.com/office/drawing/2014/main" id="{546A02D4-6851-4267-B1E6-88C68F0BA296}"/>
              </a:ext>
            </a:extLst>
          </p:cNvPr>
          <p:cNvSpPr>
            <a:spLocks noGrp="1"/>
          </p:cNvSpPr>
          <p:nvPr/>
        </p:nv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7810320" name="Прямая соединительная линия 41">
            <a:extLst>
              <a:ext uri="{FF2B5EF4-FFF2-40B4-BE49-F238E27FC236}">
                <a16:creationId xmlns:a16="http://schemas.microsoft.com/office/drawing/2014/main" id="{CBA4F9B3-F47F-4D39-8B38-721DDCAB9E44}"/>
              </a:ext>
            </a:extLst>
          </p:cNvPr>
          <p:cNvSpPr>
            <a:spLocks noGrp="1"/>
          </p:cNvSpPr>
          <p:nvPr/>
        </p:nv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8751272" name="Скругленный прямоугольник 42">
            <a:extLst>
              <a:ext uri="{FF2B5EF4-FFF2-40B4-BE49-F238E27FC236}">
                <a16:creationId xmlns:a16="http://schemas.microsoft.com/office/drawing/2014/main" id="{CF231F77-CDCF-49A7-9FE8-9D1867243233}"/>
              </a:ext>
            </a:extLst>
          </p:cNvPr>
          <p:cNvSpPr>
            <a:spLocks noGrp="1"/>
          </p:cNvSpPr>
          <p:nvPr/>
        </p:nvSpPr>
        <p:spPr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812859897" name="Скругленный прямоугольник 43">
            <a:extLst>
              <a:ext uri="{FF2B5EF4-FFF2-40B4-BE49-F238E27FC236}">
                <a16:creationId xmlns:a16="http://schemas.microsoft.com/office/drawing/2014/main" id="{37D87DB0-31F2-446F-8DE7-424D71D10562}"/>
              </a:ext>
            </a:extLst>
          </p:cNvPr>
          <p:cNvSpPr>
            <a:spLocks noGrp="1"/>
          </p:cNvSpPr>
          <p:nvPr/>
        </p:nvSpPr>
        <p:spPr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108934526" name="Скругленный прямоугольник 44">
            <a:extLst>
              <a:ext uri="{FF2B5EF4-FFF2-40B4-BE49-F238E27FC236}">
                <a16:creationId xmlns:a16="http://schemas.microsoft.com/office/drawing/2014/main" id="{CC439717-08AA-4BF8-8535-722CE7ADE0E0}"/>
              </a:ext>
            </a:extLst>
          </p:cNvPr>
          <p:cNvSpPr>
            <a:spLocks noGrp="1"/>
          </p:cNvSpPr>
          <p:nvPr/>
        </p:nvSpPr>
        <p:spPr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1741896490" name="Скругленный прямоугольник 52">
            <a:extLst>
              <a:ext uri="{FF2B5EF4-FFF2-40B4-BE49-F238E27FC236}">
                <a16:creationId xmlns:a16="http://schemas.microsoft.com/office/drawing/2014/main" id="{B11E4735-E292-417C-AB3C-96FBF76ED5F2}"/>
              </a:ext>
            </a:extLst>
          </p:cNvPr>
          <p:cNvSpPr>
            <a:spLocks noGrp="1"/>
          </p:cNvSpPr>
          <p:nvPr/>
        </p:nvSpPr>
        <p:spPr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1007682587" name="Скругленный прямоугольник 53">
            <a:extLst>
              <a:ext uri="{FF2B5EF4-FFF2-40B4-BE49-F238E27FC236}">
                <a16:creationId xmlns:a16="http://schemas.microsoft.com/office/drawing/2014/main" id="{54B6BCE1-405A-469F-AC68-C02A319B4119}"/>
              </a:ext>
            </a:extLst>
          </p:cNvPr>
          <p:cNvSpPr>
            <a:spLocks noGrp="1"/>
          </p:cNvSpPr>
          <p:nvPr/>
        </p:nvSpPr>
        <p:spPr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475492823" name="Заголовок 13">
            <a:extLst>
              <a:ext uri="{FF2B5EF4-FFF2-40B4-BE49-F238E27FC236}">
                <a16:creationId xmlns:a16="http://schemas.microsoft.com/office/drawing/2014/main" id="{4AC444F8-A2CC-46E8-98AC-7BE9F4E7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69" y="451350"/>
            <a:ext cx="9862734" cy="3761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dirty="0"/>
              <a:t>НАДЁЖНОСТЬ</a:t>
            </a:r>
          </a:p>
        </p:txBody>
      </p:sp>
      <p:sp>
        <p:nvSpPr>
          <p:cNvPr id="1473606708" name="Скругленный прямоугольник 13">
            <a:extLst>
              <a:ext uri="{FF2B5EF4-FFF2-40B4-BE49-F238E27FC236}">
                <a16:creationId xmlns:a16="http://schemas.microsoft.com/office/drawing/2014/main" id="{650A4214-FB78-433C-B4B1-E03ACD048E9C}"/>
              </a:ext>
            </a:extLst>
          </p:cNvPr>
          <p:cNvSpPr>
            <a:spLocks noGrp="1"/>
          </p:cNvSpPr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6179979" name="Скругленный прямоугольник 15">
            <a:extLst>
              <a:ext uri="{FF2B5EF4-FFF2-40B4-BE49-F238E27FC236}">
                <a16:creationId xmlns:a16="http://schemas.microsoft.com/office/drawing/2014/main" id="{71481603-7CA9-4036-B99B-D1742455CB72}"/>
              </a:ext>
            </a:extLst>
          </p:cNvPr>
          <p:cNvSpPr>
            <a:spLocks noGrp="1"/>
          </p:cNvSpPr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05368717" name="Скругленный прямоугольник 16">
            <a:extLst>
              <a:ext uri="{FF2B5EF4-FFF2-40B4-BE49-F238E27FC236}">
                <a16:creationId xmlns:a16="http://schemas.microsoft.com/office/drawing/2014/main" id="{C351E3DD-2601-41A4-A2DA-F093BA94A52E}"/>
              </a:ext>
            </a:extLst>
          </p:cNvPr>
          <p:cNvSpPr>
            <a:spLocks noGrp="1"/>
          </p:cNvSpPr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93685711" name="Скругленный прямоугольник 17">
            <a:extLst>
              <a:ext uri="{FF2B5EF4-FFF2-40B4-BE49-F238E27FC236}">
                <a16:creationId xmlns:a16="http://schemas.microsoft.com/office/drawing/2014/main" id="{734A3730-7272-484F-A700-51121D7EF477}"/>
              </a:ext>
            </a:extLst>
          </p:cNvPr>
          <p:cNvSpPr>
            <a:spLocks noGrp="1"/>
          </p:cNvSpPr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24313899" name="Скругленный прямоугольник 18">
            <a:extLst>
              <a:ext uri="{FF2B5EF4-FFF2-40B4-BE49-F238E27FC236}">
                <a16:creationId xmlns:a16="http://schemas.microsoft.com/office/drawing/2014/main" id="{DE7F75AD-2B5F-419C-BC5E-08FF8995FFDE}"/>
              </a:ext>
            </a:extLst>
          </p:cNvPr>
          <p:cNvSpPr>
            <a:spLocks noGrp="1"/>
          </p:cNvSpPr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402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lIns="0" tIns="0" rIns="0" bIns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20978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17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pPr algn="l">
              <a:buNone/>
            </a:pPr>
            <a:r>
              <a:rPr sz="1220" b="1">
                <a:solidFill>
                  <a:srgbClr val="1C1D22"/>
                </a:solidFill>
                <a:latin typeface="Montserrat"/>
              </a:rPr>
              <a:t>QUERY И РЕШЕНИЕ
Оператор видит реальный crop, confidence и решение policy.
Источник — frozen batch-артефакты speed-профиля.</a:t>
            </a:r>
            <a:endParaRPr lang="ru-RU" dirty="0">
              <a:solidFill>
                <a:schemeClr val="tx1"/>
              </a:solidFill>
            </a:endParaRPr>
          </a:p>
          <a:p>
            <a:pPr algn="l">
              <a:buNone/>
            </a:pPr>
            <a:endParaRPr lang="ru-RU" dirty="0">
              <a:solidFill>
                <a:schemeClr val="tx1"/>
              </a:solidFill>
            </a:endParaRPr>
          </a:p>
          <a:p>
            <a:pPr algn="l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pPr algn="l">
              <a:buNone/>
            </a:pPr>
            <a:r>
              <a:rPr sz="1220" b="1">
                <a:solidFill>
                  <a:srgbClr val="1C1D22"/>
                </a:solidFill>
                <a:latin typeface="Montserrat"/>
              </a:rPr>
              <a:t>TOP‑10 ДЛЯ ДИАГНОСТИКИ
При отказе candidates.csv содержит 0 строк; ranking остаётся в submission.csv.
Запуск: START_GUI.cmd — без терминала.</a:t>
            </a:r>
            <a:endParaRPr lang="ru-RU">
              <a:solidFill>
                <a:schemeClr val="tx1"/>
              </a:solidFill>
            </a:endParaRPr>
          </a:p>
          <a:p>
            <a:pPr algn="l">
              <a:buNone/>
            </a:pPr>
            <a:endParaRPr lang="ru-RU">
              <a:solidFill>
                <a:schemeClr val="tx1"/>
              </a:solidFill>
            </a:endParaRPr>
          </a:p>
          <a:p>
            <a:pPr algn="l">
              <a:buNone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63" y="463118"/>
            <a:ext cx="9862734" cy="376138"/>
          </a:xfrm>
        </p:spPr>
        <p:txBody>
          <a:bodyPr wrap="square" anchor="t"/>
          <a:lstStyle/>
          <a:p>
            <a:pPr algn="l">
              <a:buNone/>
            </a:pPr>
            <a:r>
              <a:rPr sz="1900" b="1" dirty="0">
                <a:solidFill>
                  <a:srgbClr val="FFFFFF"/>
                </a:solidFill>
                <a:latin typeface="Montserrat"/>
              </a:rPr>
              <a:t>РАБОЧИЙ ПРОТОТИП</a:t>
            </a:r>
            <a:endParaRPr lang="ru-RU" dirty="0"/>
          </a:p>
        </p:txBody>
      </p:sp>
      <p:pic>
        <p:nvPicPr>
          <p:cNvPr id="56" name="Picture 55" descr="prototype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24" y="1149443"/>
            <a:ext cx="4267960" cy="2822929"/>
          </a:xfrm>
          <a:prstGeom prst="rect">
            <a:avLst/>
          </a:prstGeom>
        </p:spPr>
      </p:pic>
      <p:pic>
        <p:nvPicPr>
          <p:cNvPr id="57" name="Picture 56" descr="prototype_gall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022" y="1149443"/>
            <a:ext cx="4267960" cy="282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lIns="0" tIns="0" rIns="0" bIns="0" anchor="ctr"/>
          <a:lstStyle/>
          <a:p>
            <a:pPr algn="ctr">
              <a:buNone/>
            </a:pPr>
            <a:r>
              <a:rPr sz="900" b="0">
                <a:solidFill>
                  <a:srgbClr val="FFFFFF"/>
                </a:solidFill>
                <a:latin typeface="Montserrat"/>
              </a:rPr>
              <a:t>18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 wrap="square" anchor="ctr"/>
          <a:lstStyle/>
          <a:p>
            <a:pPr algn="ctr">
              <a:buNone/>
            </a:pPr>
            <a:r>
              <a:rPr sz="1060" b="1">
                <a:solidFill>
                  <a:srgbClr val="520978"/>
                </a:solidFill>
                <a:latin typeface="Montserrat"/>
              </a:rPr>
              <a:t>QUALITY
Rank‑1 0.8048 · Rank‑5 0.9263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 wrap="square" anchor="ctr"/>
          <a:lstStyle/>
          <a:p>
            <a:pPr algn="ctr">
              <a:buNone/>
            </a:pPr>
            <a:r>
              <a:rPr sz="1060" b="1">
                <a:solidFill>
                  <a:srgbClr val="520978"/>
                </a:solidFill>
                <a:latin typeface="Montserrat"/>
              </a:rPr>
              <a:t>OPEN‑SET
F1 0.8361 · TNR 0.9516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 wrap="square" anchor="ctr"/>
          <a:lstStyle/>
          <a:p>
            <a:pPr algn="ctr">
              <a:buNone/>
            </a:pPr>
            <a:r>
              <a:rPr sz="1060" b="1">
                <a:solidFill>
                  <a:srgbClr val="520978"/>
                </a:solidFill>
                <a:latin typeface="Montserrat"/>
              </a:rPr>
              <a:t>DELIVERY
Offline · one command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 wrap="square" anchor="ctr"/>
          <a:lstStyle/>
          <a:p>
            <a:pPr algn="ctr">
              <a:buNone/>
            </a:pPr>
            <a:r>
              <a:rPr sz="1060" b="1">
                <a:solidFill>
                  <a:srgbClr val="520978"/>
                </a:solidFill>
                <a:latin typeface="Montserrat"/>
              </a:rPr>
              <a:t>START_GUI.cmd
github.com/PiAlYu/falcon-tex</a:t>
            </a:r>
            <a:endParaRPr lang="ru-RU">
              <a:solidFill>
                <a:schemeClr val="accent5"/>
              </a:solidFill>
              <a:latin typeface="+mj-lt"/>
            </a:endParaRP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155" y="464001"/>
            <a:ext cx="9862734" cy="376138"/>
          </a:xfrm>
        </p:spPr>
        <p:txBody>
          <a:bodyPr wrap="square" anchor="t"/>
          <a:lstStyle/>
          <a:p>
            <a:pPr algn="l">
              <a:buNone/>
            </a:pPr>
            <a:r>
              <a:rPr sz="1850" b="1" dirty="0">
                <a:solidFill>
                  <a:srgbClr val="FFFFFF"/>
                </a:solidFill>
                <a:latin typeface="Montserrat"/>
              </a:rPr>
              <a:t>ГОТОВО К ПРОВЕРКЕ</a:t>
            </a:r>
            <a:endParaRPr lang="ru-RU" dirty="0"/>
          </a:p>
        </p:txBody>
      </p:sp>
      <p:sp>
        <p:nvSpPr>
          <p:cNvPr id="222" name="TextBox 221"/>
          <p:cNvSpPr txBox="1"/>
          <p:nvPr/>
        </p:nvSpPr>
        <p:spPr>
          <a:xfrm>
            <a:off x="1042415" y="2029968"/>
            <a:ext cx="1728216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FFFFFF"/>
                </a:solidFill>
                <a:latin typeface="Montserrat"/>
              </a:rPr>
              <a:t>0.8361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133856" y="2761488"/>
            <a:ext cx="1545336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1019" b="1">
                <a:solidFill>
                  <a:srgbClr val="FFD6E4"/>
                </a:solidFill>
                <a:latin typeface="Montserrat"/>
              </a:rPr>
              <a:t>mAP@10
locked validation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767328" y="2029968"/>
            <a:ext cx="1728216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FFFFFF"/>
                </a:solidFill>
                <a:latin typeface="Montserrat"/>
              </a:rPr>
              <a:t>105.5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858768" y="2761488"/>
            <a:ext cx="1545336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1019" b="1">
                <a:solidFill>
                  <a:srgbClr val="FFD6E4"/>
                </a:solidFill>
                <a:latin typeface="Montserrat"/>
              </a:rPr>
              <a:t>FPS
local batch 32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757416" y="2029968"/>
            <a:ext cx="1728216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FFFFFF"/>
                </a:solidFill>
                <a:latin typeface="Montserrat"/>
              </a:rPr>
              <a:t>244.6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848855" y="2761488"/>
            <a:ext cx="1545336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1019" b="1">
                <a:solidFill>
                  <a:srgbClr val="FFD6E4"/>
                </a:solidFill>
                <a:latin typeface="Montserrat"/>
              </a:rPr>
              <a:t>MB
all release weights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619488" y="2029968"/>
            <a:ext cx="1728216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READY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710928" y="2761488"/>
            <a:ext cx="1545336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1019" b="1">
                <a:solidFill>
                  <a:srgbClr val="FFD6E4"/>
                </a:solidFill>
                <a:latin typeface="Montserrat"/>
              </a:rPr>
              <a:t>Docker · UI
verifier · docs</a:t>
            </a:r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4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1504</Words>
  <Application>Microsoft Office PowerPoint</Application>
  <DocSecurity>0</DocSecurity>
  <PresentationFormat>Широкоэкранный</PresentationFormat>
  <Paragraphs>219</Paragraphs>
  <Slides>18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Montserrat</vt:lpstr>
      <vt:lpstr>Wingdings</vt:lpstr>
      <vt:lpstr>Для Академия инноваторов 16_9</vt:lpstr>
      <vt:lpstr>1_Для Академия инноваторов 16_9</vt:lpstr>
      <vt:lpstr>2_Для Академия инноваторов 16_9</vt:lpstr>
      <vt:lpstr>TRYTOBEATMYCODEX</vt:lpstr>
      <vt:lpstr>КОМАНДА «TRYTOBEATMYCODEX»</vt:lpstr>
      <vt:lpstr>КОМАНДА «TRYTOBEATMYCODEX»</vt:lpstr>
      <vt:lpstr>КОМАНДА «TRYTOBEATMYCODEX»</vt:lpstr>
      <vt:lpstr>КОРОТКО О РЕШЕНИИ</vt:lpstr>
      <vt:lpstr>ВЫБОР BACKBONE</vt:lpstr>
      <vt:lpstr>АРХИТЕКТУРА</vt:lpstr>
      <vt:lpstr>РАКУРС И СВЕТ</vt:lpstr>
      <vt:lpstr>ПУТЬ ОПЕРАТОРА</vt:lpstr>
      <vt:lpstr>КАЧЕСТВО И OPEN-SET</vt:lpstr>
      <vt:lpstr>ЧЕСТНЫЙ АНАЛИЗ ОШИБОК</vt:lpstr>
      <vt:lpstr>ГДЕ ТЕРЯЕТСЯ RANK‑1</vt:lpstr>
      <vt:lpstr>OPEN-SET ОТКАЗ</vt:lpstr>
      <vt:lpstr>ПРОИЗВОДИТЕЛЬНОСТЬ</vt:lpstr>
      <vt:lpstr>ПЛАН МАСШТАБИРОВАНИЯ</vt:lpstr>
      <vt:lpstr>НАДЁЖНОСТЬ</vt:lpstr>
      <vt:lpstr>РАБОЧИЙ ПРОТОТИП</vt:lpstr>
      <vt:lpstr>ГОТОВО К ПРОВЕРКЕ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Роман Захаров</cp:lastModifiedBy>
  <cp:revision>10</cp:revision>
  <dcterms:created xsi:type="dcterms:W3CDTF">2026-09-28T13:39:29Z</dcterms:created>
  <dcterms:modified xsi:type="dcterms:W3CDTF">2026-09-29T11:23:12Z</dcterms:modified>
</cp:coreProperties>
</file>